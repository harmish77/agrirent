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303" r:id="rId5"/>
    <p:sldId id="304" r:id="rId6"/>
    <p:sldId id="261" r:id="rId7"/>
    <p:sldId id="260" r:id="rId8"/>
    <p:sldId id="263" r:id="rId9"/>
    <p:sldId id="264" r:id="rId10"/>
    <p:sldId id="265" r:id="rId11"/>
    <p:sldId id="266" r:id="rId12"/>
    <p:sldId id="308" r:id="rId13"/>
    <p:sldId id="309" r:id="rId14"/>
    <p:sldId id="310" r:id="rId15"/>
    <p:sldId id="268" r:id="rId16"/>
    <p:sldId id="269" r:id="rId17"/>
    <p:sldId id="26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301" r:id="rId38"/>
    <p:sldId id="289" r:id="rId39"/>
    <p:sldId id="290" r:id="rId40"/>
    <p:sldId id="291" r:id="rId41"/>
    <p:sldId id="292" r:id="rId42"/>
    <p:sldId id="293" r:id="rId43"/>
    <p:sldId id="302" r:id="rId44"/>
    <p:sldId id="294" r:id="rId45"/>
    <p:sldId id="295" r:id="rId46"/>
    <p:sldId id="305" r:id="rId47"/>
    <p:sldId id="306" r:id="rId48"/>
    <p:sldId id="30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5268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1ED1-F632-4210-90C6-A382D11BF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093F6-2451-4A5E-8895-4EC3E060B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393E-9DA6-4572-AB0D-E821272D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07304-0BB5-4E3E-B418-E1A8AC66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A841-FB26-4EE4-8C2D-C085CFBF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37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A3E4-026B-4CB1-A380-37F3420F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DC08-5A3B-4AB4-A062-E74C421A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A18A-65B7-452F-A738-E77A084F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43E1-5458-46D9-A67B-A780637E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BE068-D658-4B4C-A17E-686A9B3C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4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B299-031F-48A8-BCAF-43A16B60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8115-7635-4859-89AD-1CD1191A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BD2AD-50EF-4EAE-B9A9-0CC081A6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55E0-A798-4D66-B6B5-B47E57DF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A5E6C-A0BC-4228-8587-85C28392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80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030D-A634-4E14-B537-6C2DDF9C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739A-C3B5-4B85-A919-A7CD6BBD3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92946-D213-4049-8922-9AA72ED78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2176B-D7C6-4CCA-8566-55052FB9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12D38-CBC9-4791-A7E9-D4C7B4AE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DA2C7-3DB6-4C7C-AC1D-75F03A82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9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F71C-C053-4A0C-83AE-58D0FC89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2367-03F2-4597-8A19-F933044CB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EE887-91FF-42A7-A811-4D714E72C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C855A-5380-4709-8552-A43784B1F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D7BD-723B-4B9D-8B77-7B53A98FB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905CA-4923-4694-BBEA-6B3F983D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6430E-C4D3-4F74-A745-D2D0E2DE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6AC7A-415C-4B81-ADFB-77F905E6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A675-43E4-45A8-A342-E9FFE7DC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83D32-E0A5-486B-A709-8FC6D15E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31AD2-CD2C-40B2-90DE-D8D6E323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4FA05-660C-4A55-99C4-2C4DED8B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44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30C2D-5DC3-481B-B69C-59A0C136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D4A22-48C6-4820-946E-4304DE2A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0AF28-0D46-4B18-A061-8FD2143E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69F8-1412-4128-9880-8AC18405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3F12-F6A7-48F9-BC16-BC84B3C37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7F5EA-44B0-4529-8817-68EC7BDAF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C7AF3-A07E-4903-9CA1-5088E7C0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8EB96-1803-4AF6-BCBC-E7760E44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92959-7321-4CEF-803F-AEE3C145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08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01A5-5015-48FA-BAB2-405C704A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90792-E833-4345-BA65-DC2EB4004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F9430-3C15-44D8-BC73-9A6363071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B8691-D324-423E-8FA7-C097CB88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D87CB-27CD-4D3C-8662-A94904AC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8D1F8-614C-48DB-82A4-96F9D08E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1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9A92-0D5F-4D2F-9669-22AEAA58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F57B0-0EB1-4D5F-99A5-1999DCA22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DCC9-5FB0-4470-9912-E22BD6D1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787A-C33F-4015-B4D3-33037DCD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A280-8F94-40B8-97AB-69CC827D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56087-D90A-450B-966B-CDEF83E20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9D8E4-050E-4605-BBF9-4B8DCF5AE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EB7F-A42F-44D4-A516-FDEE43C5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F178-0123-4A2C-9AC6-F63343ED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6EE3-85D5-4F9B-98E6-8E5CD6EE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30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78EF5-8928-4823-BA5A-A1110E7A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5535-4259-4BD8-814D-F5D682DB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96544-3DC1-4721-AB17-5F8723350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D8A-A5CD-4C67-A3FF-50AE2C37EBEF}" type="datetimeFigureOut">
              <a:rPr lang="en-US" smtClean="0"/>
              <a:t>8/25/2025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37754-F83D-4798-AD12-B1FAEB0D1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5702A-3CD9-490B-9437-A5FEA37A7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4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458" y="1866900"/>
            <a:ext cx="10413507" cy="2355660"/>
          </a:xfrm>
        </p:spPr>
        <p:txBody>
          <a:bodyPr>
            <a:normAutofit fontScale="90000"/>
          </a:bodyPr>
          <a:lstStyle/>
          <a:p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5300" b="1" dirty="0">
                <a:latin typeface="Cambria" panose="02040503050406030204" pitchFamily="18" charset="0"/>
                <a:ea typeface="Cambria" panose="02040503050406030204" pitchFamily="18" charset="0"/>
              </a:rPr>
              <a:t>AgriRent - Agricultural Equipment Rental &amp; Farm Supplies Selling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207B4-D25D-4CDF-B804-FD46CAF2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1788" y="4235335"/>
            <a:ext cx="8490012" cy="2458427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Group Number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24</a:t>
            </a:r>
          </a:p>
          <a:p>
            <a:pPr algn="l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Group Members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l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Hamish   202307100110120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Yash          202307100110141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l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Darshak    202307100110172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l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Guide Name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Dr. Preeti Bhatt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C88A1-2E75-45CF-821E-123FA2C0C2F9}"/>
              </a:ext>
            </a:extLst>
          </p:cNvPr>
          <p:cNvSpPr txBox="1"/>
          <p:nvPr/>
        </p:nvSpPr>
        <p:spPr>
          <a:xfrm>
            <a:off x="2305878" y="357809"/>
            <a:ext cx="7911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Babu Madhav Institute of Information Technology</a:t>
            </a: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5th Semester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Project Presentation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On</a:t>
            </a: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1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33DF-71F1-4508-AA91-45BABEF1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Non-Functional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5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969276"/>
          </a:xfrm>
        </p:spPr>
        <p:txBody>
          <a:bodyPr>
            <a:normAutofit/>
          </a:bodyPr>
          <a:lstStyle/>
          <a:p>
            <a:pPr algn="just"/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Purpose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 AgriRent is web based system that lets equipment owners rent out farming machines to farmers.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also helps manage the sale of farming products. The goal is to make it easy and affordable for farmers to access what they need.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 web-based platform accessible via desktop and mobile browsers.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 catalog of agricultural equipment available for rent, with features for searching and booking.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  <a:endParaRPr lang="en-US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				Scope (Conti…)</a:t>
            </a: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User account management for farmers, equipment owners, and admin.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Reporting and dashboard features for equipment owners, farmers            and admin to monitor listings, rentals, and sales.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Notification system for booking and order confirmations, listing equipment and product.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01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Identification of Need</a:t>
            </a:r>
          </a:p>
          <a:p>
            <a:pPr marL="0" indent="0" algn="just">
              <a:buNone/>
            </a:pPr>
            <a:endParaRPr lang="en-IN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Many farmers can’t afford to buy expensive equipment and Farm Supplies.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system helps them rent and buy what they need, saving money and making farming easier.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39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99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User Management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798E86-FB14-43FB-A5C8-2CC885694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13092"/>
              </p:ext>
            </p:extLst>
          </p:nvPr>
        </p:nvGraphicFramePr>
        <p:xfrm>
          <a:off x="896644" y="2512381"/>
          <a:ext cx="10617693" cy="36989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471">
                  <a:extLst>
                    <a:ext uri="{9D8B030D-6E8A-4147-A177-3AD203B41FA5}">
                      <a16:colId xmlns:a16="http://schemas.microsoft.com/office/drawing/2014/main" val="4136287008"/>
                    </a:ext>
                  </a:extLst>
                </a:gridCol>
                <a:gridCol w="4325155">
                  <a:extLst>
                    <a:ext uri="{9D8B030D-6E8A-4147-A177-3AD203B41FA5}">
                      <a16:colId xmlns:a16="http://schemas.microsoft.com/office/drawing/2014/main" val="3463948410"/>
                    </a:ext>
                  </a:extLst>
                </a:gridCol>
                <a:gridCol w="2682566">
                  <a:extLst>
                    <a:ext uri="{9D8B030D-6E8A-4147-A177-3AD203B41FA5}">
                      <a16:colId xmlns:a16="http://schemas.microsoft.com/office/drawing/2014/main" val="4127972305"/>
                    </a:ext>
                  </a:extLst>
                </a:gridCol>
                <a:gridCol w="2047501">
                  <a:extLst>
                    <a:ext uri="{9D8B030D-6E8A-4147-A177-3AD203B41FA5}">
                      <a16:colId xmlns:a16="http://schemas.microsoft.com/office/drawing/2014/main" val="197500005"/>
                    </a:ext>
                  </a:extLst>
                </a:gridCol>
              </a:tblGrid>
              <a:tr h="61178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0352050"/>
                  </a:ext>
                </a:extLst>
              </a:tr>
              <a:tr h="9693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FR-U1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system shall allow new users to register by providing essential details.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Validates mobile number and password strength.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Registration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0103219"/>
                  </a:ext>
                </a:extLst>
              </a:tr>
              <a:tr h="9693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FR-U2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system shall allow registered users to log in using their Mobile number and password.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Implements session management.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Login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0442251"/>
                  </a:ext>
                </a:extLst>
              </a:tr>
              <a:tr h="11484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FR-U3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system shall provide a ‘Forgot Password’ feature to allow users to reset their password securely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OTP send to </a:t>
                      </a: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registered mobile number for verification.”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Forgot Password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9778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7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Subscription Management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199EA4-32E1-4DC9-85EA-F1712FB6F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949454"/>
              </p:ext>
            </p:extLst>
          </p:nvPr>
        </p:nvGraphicFramePr>
        <p:xfrm>
          <a:off x="838200" y="2498726"/>
          <a:ext cx="10515600" cy="3829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1016">
                  <a:extLst>
                    <a:ext uri="{9D8B030D-6E8A-4147-A177-3AD203B41FA5}">
                      <a16:colId xmlns:a16="http://schemas.microsoft.com/office/drawing/2014/main" val="1500530190"/>
                    </a:ext>
                  </a:extLst>
                </a:gridCol>
                <a:gridCol w="3716784">
                  <a:extLst>
                    <a:ext uri="{9D8B030D-6E8A-4147-A177-3AD203B41FA5}">
                      <a16:colId xmlns:a16="http://schemas.microsoft.com/office/drawing/2014/main" val="15613771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826479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8518941"/>
                    </a:ext>
                  </a:extLst>
                </a:gridCol>
              </a:tblGrid>
              <a:tr h="5556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0815684"/>
                  </a:ext>
                </a:extLst>
              </a:tr>
              <a:tr h="8844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FR-S1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allow users to view available subscription plans.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Includes pricing, features, and duration.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Subscription Plans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9767406"/>
                  </a:ext>
                </a:extLst>
              </a:tr>
              <a:tr h="1186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FR-S2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allow users to subscribe, renew, or cancel a future subscription.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Cancellation does not trigger an automatic refund.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 Profile / Dashboard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8831280"/>
                  </a:ext>
                </a:extLst>
              </a:tr>
              <a:tr h="11865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FR-S3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integrate with a secure payment gateway to process payments.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e.g., GPay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Payment Processing Module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217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48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Equipment &amp; Product Management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A44A3-96E4-4941-A71A-4BC626D29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38847"/>
              </p:ext>
            </p:extLst>
          </p:nvPr>
        </p:nvGraphicFramePr>
        <p:xfrm>
          <a:off x="838200" y="2472091"/>
          <a:ext cx="10515600" cy="34581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7649">
                  <a:extLst>
                    <a:ext uri="{9D8B030D-6E8A-4147-A177-3AD203B41FA5}">
                      <a16:colId xmlns:a16="http://schemas.microsoft.com/office/drawing/2014/main" val="3434136041"/>
                    </a:ext>
                  </a:extLst>
                </a:gridCol>
                <a:gridCol w="3690151">
                  <a:extLst>
                    <a:ext uri="{9D8B030D-6E8A-4147-A177-3AD203B41FA5}">
                      <a16:colId xmlns:a16="http://schemas.microsoft.com/office/drawing/2014/main" val="14316489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974685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13230092"/>
                    </a:ext>
                  </a:extLst>
                </a:gridCol>
              </a:tblGrid>
              <a:tr h="7652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6882237"/>
                  </a:ext>
                </a:extLst>
              </a:tr>
              <a:tr h="11623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FR-EP1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Equipment Owner shall be able to add, update, and delete equipment listings.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Includes images.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Equipment Owner Dashboard - Equipment Mgmt.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1228683"/>
                  </a:ext>
                </a:extLst>
              </a:tr>
              <a:tr h="765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FR-EP2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Farmer shall be able to add, update, and delete product listings.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Includes images.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Farmer Dashboard - Product Mgmt.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7778147"/>
                  </a:ext>
                </a:extLst>
              </a:tr>
              <a:tr h="7652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FR-EP3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Users shall be able to view available equipment and products.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Includes search, filter, and sort.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Main Catalog / Browse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9416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44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Booking &amp; Order Management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246E11-1913-40F3-A931-E3F38FA05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453374"/>
              </p:ext>
            </p:extLst>
          </p:nvPr>
        </p:nvGraphicFramePr>
        <p:xfrm>
          <a:off x="838200" y="2363790"/>
          <a:ext cx="10515600" cy="4063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3260">
                  <a:extLst>
                    <a:ext uri="{9D8B030D-6E8A-4147-A177-3AD203B41FA5}">
                      <a16:colId xmlns:a16="http://schemas.microsoft.com/office/drawing/2014/main" val="3474566665"/>
                    </a:ext>
                  </a:extLst>
                </a:gridCol>
                <a:gridCol w="3870664">
                  <a:extLst>
                    <a:ext uri="{9D8B030D-6E8A-4147-A177-3AD203B41FA5}">
                      <a16:colId xmlns:a16="http://schemas.microsoft.com/office/drawing/2014/main" val="3374403746"/>
                    </a:ext>
                  </a:extLst>
                </a:gridCol>
                <a:gridCol w="2592280">
                  <a:extLst>
                    <a:ext uri="{9D8B030D-6E8A-4147-A177-3AD203B41FA5}">
                      <a16:colId xmlns:a16="http://schemas.microsoft.com/office/drawing/2014/main" val="1834686623"/>
                    </a:ext>
                  </a:extLst>
                </a:gridCol>
                <a:gridCol w="2529396">
                  <a:extLst>
                    <a:ext uri="{9D8B030D-6E8A-4147-A177-3AD203B41FA5}">
                      <a16:colId xmlns:a16="http://schemas.microsoft.com/office/drawing/2014/main" val="3205862840"/>
                    </a:ext>
                  </a:extLst>
                </a:gridCol>
              </a:tblGrid>
              <a:tr h="5468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2708674"/>
                  </a:ext>
                </a:extLst>
              </a:tr>
              <a:tr h="7604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FR-BO1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Users shall be able to submit a booking request for equipment.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System checks for availability conflicts.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Equipment Detail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9140640"/>
                  </a:ext>
                </a:extLst>
              </a:tr>
              <a:tr h="7604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FR-BO2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Users shall be able to submit an order for a product.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May involve quantity selection.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Product Detail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2669190"/>
                  </a:ext>
                </a:extLst>
              </a:tr>
              <a:tr h="9505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FR-BO3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require administrative approval for all requests.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Requests enter a "Pending" state.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Dashboard - Approvals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2039019"/>
                  </a:ext>
                </a:extLst>
              </a:tr>
              <a:tr h="10202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FR-BO4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notify the user of the approval or rejection of their request.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Sent notification.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Notification System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061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08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59" y="1825624"/>
            <a:ext cx="10928411" cy="4797117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Communication, Review and Complaint 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C4B847-77DC-437B-AEA6-87DCFD734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736613"/>
              </p:ext>
            </p:extLst>
          </p:nvPr>
        </p:nvGraphicFramePr>
        <p:xfrm>
          <a:off x="838200" y="2601159"/>
          <a:ext cx="10515600" cy="3732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2138">
                  <a:extLst>
                    <a:ext uri="{9D8B030D-6E8A-4147-A177-3AD203B41FA5}">
                      <a16:colId xmlns:a16="http://schemas.microsoft.com/office/drawing/2014/main" val="3928966324"/>
                    </a:ext>
                  </a:extLst>
                </a:gridCol>
                <a:gridCol w="4003829">
                  <a:extLst>
                    <a:ext uri="{9D8B030D-6E8A-4147-A177-3AD203B41FA5}">
                      <a16:colId xmlns:a16="http://schemas.microsoft.com/office/drawing/2014/main" val="1173998136"/>
                    </a:ext>
                  </a:extLst>
                </a:gridCol>
                <a:gridCol w="2556769">
                  <a:extLst>
                    <a:ext uri="{9D8B030D-6E8A-4147-A177-3AD203B41FA5}">
                      <a16:colId xmlns:a16="http://schemas.microsoft.com/office/drawing/2014/main" val="4203534516"/>
                    </a:ext>
                  </a:extLst>
                </a:gridCol>
                <a:gridCol w="2422864">
                  <a:extLst>
                    <a:ext uri="{9D8B030D-6E8A-4147-A177-3AD203B41FA5}">
                      <a16:colId xmlns:a16="http://schemas.microsoft.com/office/drawing/2014/main" val="1449970378"/>
                    </a:ext>
                  </a:extLst>
                </a:gridCol>
              </a:tblGrid>
              <a:tr h="5504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2731377"/>
                  </a:ext>
                </a:extLst>
              </a:tr>
              <a:tr h="11511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FR-CRC1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Users shall be able to submit reviews for items they have rented/ordered.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Users can only review completed transactions.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Order History / Review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6083412"/>
                  </a:ext>
                </a:extLst>
              </a:tr>
              <a:tr h="8580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FR-CRC2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provide a secure messaging interface for users.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Messages are private between users.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Messaging Inbox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9966659"/>
                  </a:ext>
                </a:extLst>
              </a:tr>
              <a:tr h="11511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FR-CRC3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Users shall be able to submit formal complaints tracked with a unique ID.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Statuses: Received, In Review, Resolved.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Support / Contact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524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049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03754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Administrative Functions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5E31B-3C38-4A0A-AFC1-41C45D16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61638"/>
              </p:ext>
            </p:extLst>
          </p:nvPr>
        </p:nvGraphicFramePr>
        <p:xfrm>
          <a:off x="790113" y="2148397"/>
          <a:ext cx="10563688" cy="44654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5837">
                  <a:extLst>
                    <a:ext uri="{9D8B030D-6E8A-4147-A177-3AD203B41FA5}">
                      <a16:colId xmlns:a16="http://schemas.microsoft.com/office/drawing/2014/main" val="2107100256"/>
                    </a:ext>
                  </a:extLst>
                </a:gridCol>
                <a:gridCol w="3897297">
                  <a:extLst>
                    <a:ext uri="{9D8B030D-6E8A-4147-A177-3AD203B41FA5}">
                      <a16:colId xmlns:a16="http://schemas.microsoft.com/office/drawing/2014/main" val="580924436"/>
                    </a:ext>
                  </a:extLst>
                </a:gridCol>
                <a:gridCol w="2689934">
                  <a:extLst>
                    <a:ext uri="{9D8B030D-6E8A-4147-A177-3AD203B41FA5}">
                      <a16:colId xmlns:a16="http://schemas.microsoft.com/office/drawing/2014/main" val="2640167911"/>
                    </a:ext>
                  </a:extLst>
                </a:gridCol>
                <a:gridCol w="2440620">
                  <a:extLst>
                    <a:ext uri="{9D8B030D-6E8A-4147-A177-3AD203B41FA5}">
                      <a16:colId xmlns:a16="http://schemas.microsoft.com/office/drawing/2014/main" val="53049036"/>
                    </a:ext>
                  </a:extLst>
                </a:gridCol>
              </a:tblGrid>
              <a:tr h="6632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9321528"/>
                  </a:ext>
                </a:extLst>
              </a:tr>
              <a:tr h="8937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FR-A1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must approve all new listings before they appear publicly.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Prevents spam and ensures quality.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 Dashboard – Product  and Equipment 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73772"/>
                  </a:ext>
                </a:extLst>
              </a:tr>
              <a:tr h="8937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FR-A2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shall be able to monitor subscriptions and process refunds.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Refunds processed via payment gateway API.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Dashboard - Subscriptions &amp; Finance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0174727"/>
                  </a:ext>
                </a:extLst>
              </a:tr>
              <a:tr h="10073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FR-A3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The system shall generate reports (sales, revenue, usage) for administrators.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Reports should be exportable (CSV, PDF).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Dashboard – Reports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137456"/>
                  </a:ext>
                </a:extLst>
              </a:tr>
              <a:tr h="100738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FR-A4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Administrators shall have a dashboard to manage pending requests.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Provides a clear summary of pending actions.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Admin Dashboard – Product and Equipment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736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50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03754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+mn-lt"/>
              </a:rPr>
              <a:t>Non-Functional Requirements</a:t>
            </a:r>
            <a:endParaRPr lang="en-US" sz="3600" b="1" dirty="0">
              <a:latin typeface="+mn-lt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5E31B-3C38-4A0A-AFC1-41C45D16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5600"/>
              </p:ext>
            </p:extLst>
          </p:nvPr>
        </p:nvGraphicFramePr>
        <p:xfrm>
          <a:off x="828212" y="1600200"/>
          <a:ext cx="10563688" cy="48838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5837">
                  <a:extLst>
                    <a:ext uri="{9D8B030D-6E8A-4147-A177-3AD203B41FA5}">
                      <a16:colId xmlns:a16="http://schemas.microsoft.com/office/drawing/2014/main" val="2107100256"/>
                    </a:ext>
                  </a:extLst>
                </a:gridCol>
                <a:gridCol w="3897297">
                  <a:extLst>
                    <a:ext uri="{9D8B030D-6E8A-4147-A177-3AD203B41FA5}">
                      <a16:colId xmlns:a16="http://schemas.microsoft.com/office/drawing/2014/main" val="580924436"/>
                    </a:ext>
                  </a:extLst>
                </a:gridCol>
                <a:gridCol w="2689934">
                  <a:extLst>
                    <a:ext uri="{9D8B030D-6E8A-4147-A177-3AD203B41FA5}">
                      <a16:colId xmlns:a16="http://schemas.microsoft.com/office/drawing/2014/main" val="2640167911"/>
                    </a:ext>
                  </a:extLst>
                </a:gridCol>
                <a:gridCol w="2440620">
                  <a:extLst>
                    <a:ext uri="{9D8B030D-6E8A-4147-A177-3AD203B41FA5}">
                      <a16:colId xmlns:a16="http://schemas.microsoft.com/office/drawing/2014/main" val="53049036"/>
                    </a:ext>
                  </a:extLst>
                </a:gridCol>
              </a:tblGrid>
              <a:tr h="5345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9321528"/>
                  </a:ext>
                </a:extLst>
              </a:tr>
              <a:tr h="7203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system should respond to user actions (login, viewing listings, etc.)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73772"/>
                  </a:ext>
                </a:extLst>
              </a:tr>
              <a:tr h="7203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All sensitive user data (passwords, payments) must be encrypted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0174727"/>
                  </a:ext>
                </a:extLst>
              </a:tr>
              <a:tr h="811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Only authorized users should access their respective dashboards and functions.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137456"/>
                  </a:ext>
                </a:extLst>
              </a:tr>
              <a:tr h="811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NFR-4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Recovery/reset of passwords requires secure authentication (Phone Number, OTP, etc.).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7369477"/>
                  </a:ext>
                </a:extLst>
              </a:tr>
              <a:tr h="81197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NFR-5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application should be easily scalable to support increased listings, more users, and additional features in the future.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167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681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03754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+mn-lt"/>
              </a:rPr>
              <a:t>Non-Functional Requirements (conti..)</a:t>
            </a:r>
            <a:endParaRPr lang="en-US" sz="3600" b="1" dirty="0">
              <a:latin typeface="+mn-lt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5E31B-3C38-4A0A-AFC1-41C45D16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320376"/>
              </p:ext>
            </p:extLst>
          </p:nvPr>
        </p:nvGraphicFramePr>
        <p:xfrm>
          <a:off x="828212" y="2027818"/>
          <a:ext cx="10704823" cy="40243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6972">
                  <a:extLst>
                    <a:ext uri="{9D8B030D-6E8A-4147-A177-3AD203B41FA5}">
                      <a16:colId xmlns:a16="http://schemas.microsoft.com/office/drawing/2014/main" val="2107100256"/>
                    </a:ext>
                  </a:extLst>
                </a:gridCol>
                <a:gridCol w="4685291">
                  <a:extLst>
                    <a:ext uri="{9D8B030D-6E8A-4147-A177-3AD203B41FA5}">
                      <a16:colId xmlns:a16="http://schemas.microsoft.com/office/drawing/2014/main" val="580924436"/>
                    </a:ext>
                  </a:extLst>
                </a:gridCol>
                <a:gridCol w="2332653">
                  <a:extLst>
                    <a:ext uri="{9D8B030D-6E8A-4147-A177-3AD203B41FA5}">
                      <a16:colId xmlns:a16="http://schemas.microsoft.com/office/drawing/2014/main" val="2640167911"/>
                    </a:ext>
                  </a:extLst>
                </a:gridCol>
                <a:gridCol w="2009907">
                  <a:extLst>
                    <a:ext uri="{9D8B030D-6E8A-4147-A177-3AD203B41FA5}">
                      <a16:colId xmlns:a16="http://schemas.microsoft.com/office/drawing/2014/main" val="53049036"/>
                    </a:ext>
                  </a:extLst>
                </a:gridCol>
              </a:tblGrid>
              <a:tr h="5483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9321528"/>
                  </a:ext>
                </a:extLst>
              </a:tr>
              <a:tr h="606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NFR-6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system must be available 99.5% of the time.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73772"/>
                  </a:ext>
                </a:extLst>
              </a:tr>
              <a:tr h="12168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NFR-7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Interface should be easy to use for all stakeholders with clear navigation and user instructions for equipment rental, product management, bookings, and reporting.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Usability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0174727"/>
                  </a:ext>
                </a:extLst>
              </a:tr>
              <a:tr h="9698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NFR-8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 modular coding standards and proper documentation so future updates, bug-fixing, or upgrades can be performed efficiently.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Maintainability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137456"/>
                  </a:ext>
                </a:extLst>
              </a:tr>
              <a:tr h="6832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NFR-9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platform must work smoothly on major browsers and mobile devices.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Compatibility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7369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54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03754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+mn-lt"/>
              </a:rPr>
              <a:t>Non-Functional Requirements (conti..)</a:t>
            </a:r>
            <a:endParaRPr lang="en-US" sz="3600" b="1" dirty="0">
              <a:latin typeface="+mn-lt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5E31B-3C38-4A0A-AFC1-41C45D16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38359"/>
              </p:ext>
            </p:extLst>
          </p:nvPr>
        </p:nvGraphicFramePr>
        <p:xfrm>
          <a:off x="676181" y="2184660"/>
          <a:ext cx="10563688" cy="3618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5837">
                  <a:extLst>
                    <a:ext uri="{9D8B030D-6E8A-4147-A177-3AD203B41FA5}">
                      <a16:colId xmlns:a16="http://schemas.microsoft.com/office/drawing/2014/main" val="2107100256"/>
                    </a:ext>
                  </a:extLst>
                </a:gridCol>
                <a:gridCol w="4685291">
                  <a:extLst>
                    <a:ext uri="{9D8B030D-6E8A-4147-A177-3AD203B41FA5}">
                      <a16:colId xmlns:a16="http://schemas.microsoft.com/office/drawing/2014/main" val="580924436"/>
                    </a:ext>
                  </a:extLst>
                </a:gridCol>
                <a:gridCol w="2332653">
                  <a:extLst>
                    <a:ext uri="{9D8B030D-6E8A-4147-A177-3AD203B41FA5}">
                      <a16:colId xmlns:a16="http://schemas.microsoft.com/office/drawing/2014/main" val="2640167911"/>
                    </a:ext>
                  </a:extLst>
                </a:gridCol>
                <a:gridCol w="2009907">
                  <a:extLst>
                    <a:ext uri="{9D8B030D-6E8A-4147-A177-3AD203B41FA5}">
                      <a16:colId xmlns:a16="http://schemas.microsoft.com/office/drawing/2014/main" val="53049036"/>
                    </a:ext>
                  </a:extLst>
                </a:gridCol>
              </a:tblGrid>
              <a:tr h="5483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9321528"/>
                  </a:ext>
                </a:extLst>
              </a:tr>
              <a:tr h="60612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NFR-10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All key events (logins, approvals/rejections, complaints) should be stored securely for administrative review and troubleshooting.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Audit Logging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73772"/>
                  </a:ext>
                </a:extLst>
              </a:tr>
              <a:tr h="12168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system must support multiple languages and provide features for users with disabilities.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Accessibility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0174727"/>
                  </a:ext>
                </a:extLst>
              </a:tr>
              <a:tr h="9698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NFR-12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All equipment rental, product sale, and payment transactions must be recorded accurately, avoiding duplication, loss, or error.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Data Integrity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13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350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65580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9C0614E-3553-45F9-9AFB-627AE988E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096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9A50F38-6198-4F1B-B5D9-5EE5F2B0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7867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Registration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D247CF-5ECC-40D8-9A65-6D4E306C2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500326"/>
            <a:ext cx="3490297" cy="491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48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User Login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B71BD2-2928-4116-9595-F764544AD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60" y="680085"/>
            <a:ext cx="5974672" cy="621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7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Change Password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0E31CB-3132-41C4-A1E7-460FB04B8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262" y="461638"/>
            <a:ext cx="5591475" cy="612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53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Forgot Password 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83643-D132-4734-898F-5EF29113A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974" y="292962"/>
            <a:ext cx="4546052" cy="61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6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98869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Subscription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DA940-F99C-4F25-B480-A5419C9FA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138" y="941722"/>
            <a:ext cx="5609724" cy="604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8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Manage Equipment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D9CDA-70D9-4D0D-ADB6-4657F555FA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173" y="352887"/>
            <a:ext cx="5554834" cy="636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66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Manage Product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E1CF1B-395F-420D-8A96-9A1ED7AFD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911" y="230819"/>
            <a:ext cx="5219943" cy="64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51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Equipment Booking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63754-3BAD-4674-9A4B-61CCD9B71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1" y="250794"/>
            <a:ext cx="5238564" cy="63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88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Product Order 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D42CC-BD53-4335-8E93-7C71009DC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01841"/>
            <a:ext cx="4670394" cy="63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66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Complaint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244DCB-B3F1-4CC4-8EFE-1E485E273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253" y="1948788"/>
            <a:ext cx="47244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28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Messaging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D1DC42-E934-4A00-85D1-3A25483A25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595312"/>
            <a:ext cx="472440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56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Submit Review  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86B390-FD2D-454C-B30B-398805307E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372" y="423862"/>
            <a:ext cx="48482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02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Admin Generate Reports 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75A44E-CAC6-4B63-BD29-8B51EE18FE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596" y="257452"/>
            <a:ext cx="5149049" cy="648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48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98644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Users Table</a:t>
            </a: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44C70-76BF-4AF1-8B8E-355CC727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42275"/>
              </p:ext>
            </p:extLst>
          </p:nvPr>
        </p:nvGraphicFramePr>
        <p:xfrm>
          <a:off x="1047566" y="2498725"/>
          <a:ext cx="10236104" cy="41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3490">
                  <a:extLst>
                    <a:ext uri="{9D8B030D-6E8A-4147-A177-3AD203B41FA5}">
                      <a16:colId xmlns:a16="http://schemas.microsoft.com/office/drawing/2014/main" val="2778092220"/>
                    </a:ext>
                  </a:extLst>
                </a:gridCol>
                <a:gridCol w="1589103">
                  <a:extLst>
                    <a:ext uri="{9D8B030D-6E8A-4147-A177-3AD203B41FA5}">
                      <a16:colId xmlns:a16="http://schemas.microsoft.com/office/drawing/2014/main" val="3356156405"/>
                    </a:ext>
                  </a:extLst>
                </a:gridCol>
                <a:gridCol w="1162975">
                  <a:extLst>
                    <a:ext uri="{9D8B030D-6E8A-4147-A177-3AD203B41FA5}">
                      <a16:colId xmlns:a16="http://schemas.microsoft.com/office/drawing/2014/main" val="2494357302"/>
                    </a:ext>
                  </a:extLst>
                </a:gridCol>
                <a:gridCol w="2839007">
                  <a:extLst>
                    <a:ext uri="{9D8B030D-6E8A-4147-A177-3AD203B41FA5}">
                      <a16:colId xmlns:a16="http://schemas.microsoft.com/office/drawing/2014/main" val="272423661"/>
                    </a:ext>
                  </a:extLst>
                </a:gridCol>
                <a:gridCol w="3011529">
                  <a:extLst>
                    <a:ext uri="{9D8B030D-6E8A-4147-A177-3AD203B41FA5}">
                      <a16:colId xmlns:a16="http://schemas.microsoft.com/office/drawing/2014/main" val="2712651757"/>
                    </a:ext>
                  </a:extLst>
                </a:gridCol>
              </a:tblGrid>
              <a:tr h="4106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9916845"/>
                  </a:ext>
                </a:extLst>
              </a:tr>
              <a:tr h="296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Unique user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48986"/>
                  </a:ext>
                </a:extLst>
              </a:tr>
              <a:tr h="296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User's full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056419"/>
                  </a:ext>
                </a:extLst>
              </a:tr>
              <a:tr h="6215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Email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90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UNIQUE,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User's email 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40333"/>
                  </a:ext>
                </a:extLst>
              </a:tr>
              <a:tr h="6215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Phone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UNIQUE,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User's phone number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6101449"/>
                  </a:ext>
                </a:extLst>
              </a:tr>
              <a:tr h="6215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password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255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 password Max size is 20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696154"/>
                  </a:ext>
                </a:extLst>
              </a:tr>
              <a:tr h="1270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User_type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Two type of Users :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 = Equipment owner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 = Farmer 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 = Admin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431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143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 User Address Table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2AED9-53D6-490D-9911-F1E02E6A0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229205"/>
              </p:ext>
            </p:extLst>
          </p:nvPr>
        </p:nvGraphicFramePr>
        <p:xfrm>
          <a:off x="1118999" y="2352873"/>
          <a:ext cx="10224000" cy="4140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643">
                  <a:extLst>
                    <a:ext uri="{9D8B030D-6E8A-4147-A177-3AD203B41FA5}">
                      <a16:colId xmlns:a16="http://schemas.microsoft.com/office/drawing/2014/main" val="3202713036"/>
                    </a:ext>
                  </a:extLst>
                </a:gridCol>
                <a:gridCol w="1481006">
                  <a:extLst>
                    <a:ext uri="{9D8B030D-6E8A-4147-A177-3AD203B41FA5}">
                      <a16:colId xmlns:a16="http://schemas.microsoft.com/office/drawing/2014/main" val="3662127096"/>
                    </a:ext>
                  </a:extLst>
                </a:gridCol>
                <a:gridCol w="1126274">
                  <a:extLst>
                    <a:ext uri="{9D8B030D-6E8A-4147-A177-3AD203B41FA5}">
                      <a16:colId xmlns:a16="http://schemas.microsoft.com/office/drawing/2014/main" val="2221259717"/>
                    </a:ext>
                  </a:extLst>
                </a:gridCol>
                <a:gridCol w="2837857">
                  <a:extLst>
                    <a:ext uri="{9D8B030D-6E8A-4147-A177-3AD203B41FA5}">
                      <a16:colId xmlns:a16="http://schemas.microsoft.com/office/drawing/2014/main" val="1109371913"/>
                    </a:ext>
                  </a:extLst>
                </a:gridCol>
                <a:gridCol w="3032220">
                  <a:extLst>
                    <a:ext uri="{9D8B030D-6E8A-4147-A177-3AD203B41FA5}">
                      <a16:colId xmlns:a16="http://schemas.microsoft.com/office/drawing/2014/main" val="1051256951"/>
                    </a:ext>
                  </a:extLst>
                </a:gridCol>
              </a:tblGrid>
              <a:tr h="4571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5829928"/>
                  </a:ext>
                </a:extLst>
              </a:tr>
              <a:tr h="7260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Unique address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4713220"/>
                  </a:ext>
                </a:extLst>
              </a:tr>
              <a:tr h="7182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Associated user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3810001"/>
                  </a:ext>
                </a:extLst>
              </a:tr>
              <a:tr h="582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4061849"/>
                  </a:ext>
                </a:extLst>
              </a:tr>
              <a:tr h="544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Select City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3411153"/>
                  </a:ext>
                </a:extLst>
              </a:tr>
              <a:tr h="5512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Select State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4191398"/>
                  </a:ext>
                </a:extLst>
              </a:tr>
              <a:tr h="5606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Pin_code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6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Postal code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1089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344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3. Subscription Plans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113C30-AEA8-44C7-9B3E-C3A07446D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187375"/>
              </p:ext>
            </p:extLst>
          </p:nvPr>
        </p:nvGraphicFramePr>
        <p:xfrm>
          <a:off x="838200" y="2498725"/>
          <a:ext cx="10234800" cy="41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4136090926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508185624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42401836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1772868571"/>
                    </a:ext>
                  </a:extLst>
                </a:gridCol>
                <a:gridCol w="2788536">
                  <a:extLst>
                    <a:ext uri="{9D8B030D-6E8A-4147-A177-3AD203B41FA5}">
                      <a16:colId xmlns:a16="http://schemas.microsoft.com/office/drawing/2014/main" val="3604039039"/>
                    </a:ext>
                  </a:extLst>
                </a:gridCol>
              </a:tblGrid>
              <a:tr h="7327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5553216"/>
                  </a:ext>
                </a:extLst>
              </a:tr>
              <a:tr h="6713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1477898"/>
                  </a:ext>
                </a:extLst>
              </a:tr>
              <a:tr h="7440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 name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369248"/>
                  </a:ext>
                </a:extLst>
              </a:tr>
              <a:tr h="13075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Plan_type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 Two type: 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 = Monthly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Y = Yearly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0325425"/>
                  </a:ext>
                </a:extLst>
              </a:tr>
              <a:tr h="6842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 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2498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668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 User Subscriptions </a:t>
            </a:r>
            <a:r>
              <a:rPr lang="en-US" b="1" dirty="0"/>
              <a:t>Table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A1A2A7-05FE-44B6-9114-E77541A46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501966"/>
              </p:ext>
            </p:extLst>
          </p:nvPr>
        </p:nvGraphicFramePr>
        <p:xfrm>
          <a:off x="978599" y="2363788"/>
          <a:ext cx="10234801" cy="43286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6240">
                  <a:extLst>
                    <a:ext uri="{9D8B030D-6E8A-4147-A177-3AD203B41FA5}">
                      <a16:colId xmlns:a16="http://schemas.microsoft.com/office/drawing/2014/main" val="485408007"/>
                    </a:ext>
                  </a:extLst>
                </a:gridCol>
                <a:gridCol w="1589103">
                  <a:extLst>
                    <a:ext uri="{9D8B030D-6E8A-4147-A177-3AD203B41FA5}">
                      <a16:colId xmlns:a16="http://schemas.microsoft.com/office/drawing/2014/main" val="919036062"/>
                    </a:ext>
                  </a:extLst>
                </a:gridCol>
                <a:gridCol w="1091953">
                  <a:extLst>
                    <a:ext uri="{9D8B030D-6E8A-4147-A177-3AD203B41FA5}">
                      <a16:colId xmlns:a16="http://schemas.microsoft.com/office/drawing/2014/main" val="350973636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64857271"/>
                    </a:ext>
                  </a:extLst>
                </a:gridCol>
                <a:gridCol w="2584305">
                  <a:extLst>
                    <a:ext uri="{9D8B030D-6E8A-4147-A177-3AD203B41FA5}">
                      <a16:colId xmlns:a16="http://schemas.microsoft.com/office/drawing/2014/main" val="524457953"/>
                    </a:ext>
                  </a:extLst>
                </a:gridCol>
              </a:tblGrid>
              <a:tr h="459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1472118"/>
                  </a:ext>
                </a:extLst>
              </a:tr>
              <a:tr h="5639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subscription_id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Unique subscription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5618955"/>
                  </a:ext>
                </a:extLst>
              </a:tr>
              <a:tr h="5639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Subscribed user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1298314"/>
                  </a:ext>
                </a:extLst>
              </a:tr>
              <a:tr h="7561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plan_id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Subscription Plans(plan_id)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Chosen plan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43687"/>
                  </a:ext>
                </a:extLst>
              </a:tr>
              <a:tr h="371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start_date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Subscription start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0864024"/>
                  </a:ext>
                </a:extLst>
              </a:tr>
              <a:tr h="371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end_date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Subscription end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4307408"/>
                  </a:ext>
                </a:extLst>
              </a:tr>
              <a:tr h="11403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'E'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Status of plan: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 = active 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 = expired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 = cancelled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8646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152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5.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Payments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B7FAED-6AF1-4C47-8A57-7E33C8E7D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129262"/>
              </p:ext>
            </p:extLst>
          </p:nvPr>
        </p:nvGraphicFramePr>
        <p:xfrm>
          <a:off x="1219244" y="2273300"/>
          <a:ext cx="10234800" cy="44434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66455">
                  <a:extLst>
                    <a:ext uri="{9D8B030D-6E8A-4147-A177-3AD203B41FA5}">
                      <a16:colId xmlns:a16="http://schemas.microsoft.com/office/drawing/2014/main" val="2591682496"/>
                    </a:ext>
                  </a:extLst>
                </a:gridCol>
                <a:gridCol w="1865413">
                  <a:extLst>
                    <a:ext uri="{9D8B030D-6E8A-4147-A177-3AD203B41FA5}">
                      <a16:colId xmlns:a16="http://schemas.microsoft.com/office/drawing/2014/main" val="4280515516"/>
                    </a:ext>
                  </a:extLst>
                </a:gridCol>
                <a:gridCol w="897982">
                  <a:extLst>
                    <a:ext uri="{9D8B030D-6E8A-4147-A177-3AD203B41FA5}">
                      <a16:colId xmlns:a16="http://schemas.microsoft.com/office/drawing/2014/main" val="3005160839"/>
                    </a:ext>
                  </a:extLst>
                </a:gridCol>
                <a:gridCol w="2526114">
                  <a:extLst>
                    <a:ext uri="{9D8B030D-6E8A-4147-A177-3AD203B41FA5}">
                      <a16:colId xmlns:a16="http://schemas.microsoft.com/office/drawing/2014/main" val="4131424856"/>
                    </a:ext>
                  </a:extLst>
                </a:gridCol>
                <a:gridCol w="2878836">
                  <a:extLst>
                    <a:ext uri="{9D8B030D-6E8A-4147-A177-3AD203B41FA5}">
                      <a16:colId xmlns:a16="http://schemas.microsoft.com/office/drawing/2014/main" val="2359409412"/>
                    </a:ext>
                  </a:extLst>
                </a:gridCol>
              </a:tblGrid>
              <a:tr h="3740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9398375"/>
                  </a:ext>
                </a:extLst>
              </a:tr>
              <a:tr h="43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Payment_id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Payment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2410731"/>
                  </a:ext>
                </a:extLst>
              </a:tr>
              <a:tr h="5903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Subscription_id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</a:t>
                      </a:r>
                      <a:r>
                        <a:rPr lang="en-US" sz="1800" dirty="0" err="1">
                          <a:effectLst/>
                        </a:rPr>
                        <a:t>User_Subscriptions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Associated subscription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1450835"/>
                  </a:ext>
                </a:extLst>
              </a:tr>
              <a:tr h="43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Payment 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077756"/>
                  </a:ext>
                </a:extLst>
              </a:tr>
              <a:tr h="43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transaction_id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UNIQUE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Gateway reference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6256327"/>
                  </a:ext>
                </a:extLst>
              </a:tr>
              <a:tr h="15054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'pending'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Payment status: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 = pending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 = completed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 = failed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 = refunded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0696269"/>
                  </a:ext>
                </a:extLst>
              </a:tr>
              <a:tr h="5903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payment_date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Payment 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7152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7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6. Equipment_Categories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2557EC-E8D7-4E43-8683-AA2B10792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32191"/>
              </p:ext>
            </p:extLst>
          </p:nvPr>
        </p:nvGraphicFramePr>
        <p:xfrm>
          <a:off x="978600" y="2618914"/>
          <a:ext cx="10234799" cy="3353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0313">
                  <a:extLst>
                    <a:ext uri="{9D8B030D-6E8A-4147-A177-3AD203B41FA5}">
                      <a16:colId xmlns:a16="http://schemas.microsoft.com/office/drawing/2014/main" val="1631271916"/>
                    </a:ext>
                  </a:extLst>
                </a:gridCol>
                <a:gridCol w="1420427">
                  <a:extLst>
                    <a:ext uri="{9D8B030D-6E8A-4147-A177-3AD203B41FA5}">
                      <a16:colId xmlns:a16="http://schemas.microsoft.com/office/drawing/2014/main" val="2892091056"/>
                    </a:ext>
                  </a:extLst>
                </a:gridCol>
                <a:gridCol w="1544714">
                  <a:extLst>
                    <a:ext uri="{9D8B030D-6E8A-4147-A177-3AD203B41FA5}">
                      <a16:colId xmlns:a16="http://schemas.microsoft.com/office/drawing/2014/main" val="4280673235"/>
                    </a:ext>
                  </a:extLst>
                </a:gridCol>
                <a:gridCol w="2618913">
                  <a:extLst>
                    <a:ext uri="{9D8B030D-6E8A-4147-A177-3AD203B41FA5}">
                      <a16:colId xmlns:a16="http://schemas.microsoft.com/office/drawing/2014/main" val="2291680035"/>
                    </a:ext>
                  </a:extLst>
                </a:gridCol>
                <a:gridCol w="3010432">
                  <a:extLst>
                    <a:ext uri="{9D8B030D-6E8A-4147-A177-3AD203B41FA5}">
                      <a16:colId xmlns:a16="http://schemas.microsoft.com/office/drawing/2014/main" val="2517205907"/>
                    </a:ext>
                  </a:extLst>
                </a:gridCol>
              </a:tblGrid>
              <a:tr h="6835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5198934"/>
                  </a:ext>
                </a:extLst>
              </a:tr>
              <a:tr h="742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59616"/>
                  </a:ext>
                </a:extLst>
              </a:tr>
              <a:tr h="102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 name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5780404"/>
                  </a:ext>
                </a:extLst>
              </a:tr>
              <a:tr h="906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920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985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7. Equipment_Subcategories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C3FA6C-8F2B-4C69-8140-CB5DE591E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832260"/>
              </p:ext>
            </p:extLst>
          </p:nvPr>
        </p:nvGraphicFramePr>
        <p:xfrm>
          <a:off x="799730" y="2444340"/>
          <a:ext cx="10234800" cy="36216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6130">
                  <a:extLst>
                    <a:ext uri="{9D8B030D-6E8A-4147-A177-3AD203B41FA5}">
                      <a16:colId xmlns:a16="http://schemas.microsoft.com/office/drawing/2014/main" val="935704988"/>
                    </a:ext>
                  </a:extLst>
                </a:gridCol>
                <a:gridCol w="2166152">
                  <a:extLst>
                    <a:ext uri="{9D8B030D-6E8A-4147-A177-3AD203B41FA5}">
                      <a16:colId xmlns:a16="http://schemas.microsoft.com/office/drawing/2014/main" val="3250671802"/>
                    </a:ext>
                  </a:extLst>
                </a:gridCol>
                <a:gridCol w="923277">
                  <a:extLst>
                    <a:ext uri="{9D8B030D-6E8A-4147-A177-3AD203B41FA5}">
                      <a16:colId xmlns:a16="http://schemas.microsoft.com/office/drawing/2014/main" val="1800970444"/>
                    </a:ext>
                  </a:extLst>
                </a:gridCol>
                <a:gridCol w="2272684">
                  <a:extLst>
                    <a:ext uri="{9D8B030D-6E8A-4147-A177-3AD203B41FA5}">
                      <a16:colId xmlns:a16="http://schemas.microsoft.com/office/drawing/2014/main" val="3838637262"/>
                    </a:ext>
                  </a:extLst>
                </a:gridCol>
                <a:gridCol w="2396557">
                  <a:extLst>
                    <a:ext uri="{9D8B030D-6E8A-4147-A177-3AD203B41FA5}">
                      <a16:colId xmlns:a16="http://schemas.microsoft.com/office/drawing/2014/main" val="4074129725"/>
                    </a:ext>
                  </a:extLst>
                </a:gridCol>
              </a:tblGrid>
              <a:tr h="5960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4034329"/>
                  </a:ext>
                </a:extLst>
              </a:tr>
              <a:tr h="830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8314339"/>
                  </a:ext>
                </a:extLst>
              </a:tr>
              <a:tr h="10031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Categories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Parent category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4766078"/>
                  </a:ext>
                </a:extLst>
              </a:tr>
              <a:tr h="596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883620"/>
                  </a:ext>
                </a:extLst>
              </a:tr>
              <a:tr h="596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2958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670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8. Equipment Table</a:t>
            </a: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8C2558-F070-4E3D-AA1F-84CA09E8D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985768"/>
              </p:ext>
            </p:extLst>
          </p:nvPr>
        </p:nvGraphicFramePr>
        <p:xfrm>
          <a:off x="1157099" y="2363788"/>
          <a:ext cx="10234801" cy="4139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8269">
                  <a:extLst>
                    <a:ext uri="{9D8B030D-6E8A-4147-A177-3AD203B41FA5}">
                      <a16:colId xmlns:a16="http://schemas.microsoft.com/office/drawing/2014/main" val="3134714416"/>
                    </a:ext>
                  </a:extLst>
                </a:gridCol>
                <a:gridCol w="1637614">
                  <a:extLst>
                    <a:ext uri="{9D8B030D-6E8A-4147-A177-3AD203B41FA5}">
                      <a16:colId xmlns:a16="http://schemas.microsoft.com/office/drawing/2014/main" val="2281451683"/>
                    </a:ext>
                  </a:extLst>
                </a:gridCol>
                <a:gridCol w="819385">
                  <a:extLst>
                    <a:ext uri="{9D8B030D-6E8A-4147-A177-3AD203B41FA5}">
                      <a16:colId xmlns:a16="http://schemas.microsoft.com/office/drawing/2014/main" val="1124982581"/>
                    </a:ext>
                  </a:extLst>
                </a:gridCol>
                <a:gridCol w="2456999">
                  <a:extLst>
                    <a:ext uri="{9D8B030D-6E8A-4147-A177-3AD203B41FA5}">
                      <a16:colId xmlns:a16="http://schemas.microsoft.com/office/drawing/2014/main" val="1141269546"/>
                    </a:ext>
                  </a:extLst>
                </a:gridCol>
                <a:gridCol w="3032534">
                  <a:extLst>
                    <a:ext uri="{9D8B030D-6E8A-4147-A177-3AD203B41FA5}">
                      <a16:colId xmlns:a16="http://schemas.microsoft.com/office/drawing/2014/main" val="3140193666"/>
                    </a:ext>
                  </a:extLst>
                </a:gridCol>
              </a:tblGrid>
              <a:tr h="593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8393325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8901833"/>
                  </a:ext>
                </a:extLst>
              </a:tr>
              <a:tr h="7976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Owner_id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 owner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7740969"/>
                  </a:ext>
                </a:extLst>
              </a:tr>
              <a:tr h="7976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Subcategories_id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Subcategories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 subcategory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3122219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Title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 title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92514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Brand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Manufacturer brand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5968395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Model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Model number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7193522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Year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INTEGER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Manufacturing year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9967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898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Equipment Table (Conti..)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6DD6AD-C77F-4A9D-9D76-48499C26E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65532"/>
              </p:ext>
            </p:extLst>
          </p:nvPr>
        </p:nvGraphicFramePr>
        <p:xfrm>
          <a:off x="1178560" y="2283420"/>
          <a:ext cx="10312398" cy="42094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9612">
                  <a:extLst>
                    <a:ext uri="{9D8B030D-6E8A-4147-A177-3AD203B41FA5}">
                      <a16:colId xmlns:a16="http://schemas.microsoft.com/office/drawing/2014/main" val="2208766144"/>
                    </a:ext>
                  </a:extLst>
                </a:gridCol>
                <a:gridCol w="1907456">
                  <a:extLst>
                    <a:ext uri="{9D8B030D-6E8A-4147-A177-3AD203B41FA5}">
                      <a16:colId xmlns:a16="http://schemas.microsoft.com/office/drawing/2014/main" val="3251103842"/>
                    </a:ext>
                  </a:extLst>
                </a:gridCol>
                <a:gridCol w="1021012">
                  <a:extLst>
                    <a:ext uri="{9D8B030D-6E8A-4147-A177-3AD203B41FA5}">
                      <a16:colId xmlns:a16="http://schemas.microsoft.com/office/drawing/2014/main" val="249293939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301563927"/>
                    </a:ext>
                  </a:extLst>
                </a:gridCol>
                <a:gridCol w="3159758">
                  <a:extLst>
                    <a:ext uri="{9D8B030D-6E8A-4147-A177-3AD203B41FA5}">
                      <a16:colId xmlns:a16="http://schemas.microsoft.com/office/drawing/2014/main" val="2950033961"/>
                    </a:ext>
                  </a:extLst>
                </a:gridCol>
              </a:tblGrid>
              <a:tr h="4100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9750324"/>
                  </a:ext>
                </a:extLst>
              </a:tr>
              <a:tr h="410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Detailed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0460745"/>
                  </a:ext>
                </a:extLst>
              </a:tr>
              <a:tr h="410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Hourly_rate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Hourly rental 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068419"/>
                  </a:ext>
                </a:extLst>
              </a:tr>
              <a:tr h="410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Daily_rate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Daily rental 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4367604"/>
                  </a:ext>
                </a:extLst>
              </a:tr>
              <a:tr h="8745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listed_date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Listing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9902412"/>
                  </a:ext>
                </a:extLst>
              </a:tr>
              <a:tr h="16947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Approval_status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“PEN”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 approval Status: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PEN = pending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CON= confirmed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REJ = Rejected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712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788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9. Equipment_Images </a:t>
            </a:r>
            <a:r>
              <a:rPr lang="en-US" b="1" dirty="0"/>
              <a:t>Table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ED29C-8951-4900-98A0-7FBE135B0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192817"/>
              </p:ext>
            </p:extLst>
          </p:nvPr>
        </p:nvGraphicFramePr>
        <p:xfrm>
          <a:off x="1698600" y="2498724"/>
          <a:ext cx="9203081" cy="3820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9952">
                  <a:extLst>
                    <a:ext uri="{9D8B030D-6E8A-4147-A177-3AD203B41FA5}">
                      <a16:colId xmlns:a16="http://schemas.microsoft.com/office/drawing/2014/main" val="1041266907"/>
                    </a:ext>
                  </a:extLst>
                </a:gridCol>
                <a:gridCol w="1780897">
                  <a:extLst>
                    <a:ext uri="{9D8B030D-6E8A-4147-A177-3AD203B41FA5}">
                      <a16:colId xmlns:a16="http://schemas.microsoft.com/office/drawing/2014/main" val="4057825740"/>
                    </a:ext>
                  </a:extLst>
                </a:gridCol>
                <a:gridCol w="743285">
                  <a:extLst>
                    <a:ext uri="{9D8B030D-6E8A-4147-A177-3AD203B41FA5}">
                      <a16:colId xmlns:a16="http://schemas.microsoft.com/office/drawing/2014/main" val="2566949845"/>
                    </a:ext>
                  </a:extLst>
                </a:gridCol>
                <a:gridCol w="2141343">
                  <a:extLst>
                    <a:ext uri="{9D8B030D-6E8A-4147-A177-3AD203B41FA5}">
                      <a16:colId xmlns:a16="http://schemas.microsoft.com/office/drawing/2014/main" val="3047698429"/>
                    </a:ext>
                  </a:extLst>
                </a:gridCol>
                <a:gridCol w="2707604">
                  <a:extLst>
                    <a:ext uri="{9D8B030D-6E8A-4147-A177-3AD203B41FA5}">
                      <a16:colId xmlns:a16="http://schemas.microsoft.com/office/drawing/2014/main" val="2497113604"/>
                    </a:ext>
                  </a:extLst>
                </a:gridCol>
              </a:tblGrid>
              <a:tr h="7993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1407206"/>
                  </a:ext>
                </a:extLst>
              </a:tr>
              <a:tr h="9775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image_id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Image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3806233"/>
                  </a:ext>
                </a:extLst>
              </a:tr>
              <a:tr h="13778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Equipment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Related equipment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5077972"/>
                  </a:ext>
                </a:extLst>
              </a:tr>
              <a:tr h="665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image_url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255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Image storage URL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3140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156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10. Equipment_Bookings </a:t>
            </a:r>
            <a:r>
              <a:rPr lang="en-US" b="1" dirty="0"/>
              <a:t>Table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6222DA-93E6-4DBC-94D1-B649FB24A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61654"/>
              </p:ext>
            </p:extLst>
          </p:nvPr>
        </p:nvGraphicFramePr>
        <p:xfrm>
          <a:off x="838201" y="2363789"/>
          <a:ext cx="10662920" cy="4494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8565">
                  <a:extLst>
                    <a:ext uri="{9D8B030D-6E8A-4147-A177-3AD203B41FA5}">
                      <a16:colId xmlns:a16="http://schemas.microsoft.com/office/drawing/2014/main" val="2083151219"/>
                    </a:ext>
                  </a:extLst>
                </a:gridCol>
                <a:gridCol w="1689016">
                  <a:extLst>
                    <a:ext uri="{9D8B030D-6E8A-4147-A177-3AD203B41FA5}">
                      <a16:colId xmlns:a16="http://schemas.microsoft.com/office/drawing/2014/main" val="842911875"/>
                    </a:ext>
                  </a:extLst>
                </a:gridCol>
                <a:gridCol w="985980">
                  <a:extLst>
                    <a:ext uri="{9D8B030D-6E8A-4147-A177-3AD203B41FA5}">
                      <a16:colId xmlns:a16="http://schemas.microsoft.com/office/drawing/2014/main" val="162103757"/>
                    </a:ext>
                  </a:extLst>
                </a:gridCol>
                <a:gridCol w="2688588">
                  <a:extLst>
                    <a:ext uri="{9D8B030D-6E8A-4147-A177-3AD203B41FA5}">
                      <a16:colId xmlns:a16="http://schemas.microsoft.com/office/drawing/2014/main" val="2861380458"/>
                    </a:ext>
                  </a:extLst>
                </a:gridCol>
                <a:gridCol w="3250771">
                  <a:extLst>
                    <a:ext uri="{9D8B030D-6E8A-4147-A177-3AD203B41FA5}">
                      <a16:colId xmlns:a16="http://schemas.microsoft.com/office/drawing/2014/main" val="57943791"/>
                    </a:ext>
                  </a:extLst>
                </a:gridCol>
              </a:tblGrid>
              <a:tr h="2963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7747282"/>
                  </a:ext>
                </a:extLst>
              </a:tr>
              <a:tr h="281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booking_id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Booking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0622647"/>
                  </a:ext>
                </a:extLst>
              </a:tr>
              <a:tr h="3672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equipment_id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Equipment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Booked equipment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4927270"/>
                  </a:ext>
                </a:extLst>
              </a:tr>
              <a:tr h="5799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customer_id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Renting farmer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00380"/>
                  </a:ext>
                </a:extLst>
              </a:tr>
              <a:tr h="2770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start_date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Rental start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0817116"/>
                  </a:ext>
                </a:extLst>
              </a:tr>
              <a:tr h="289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end_date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Rental end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4708235"/>
                  </a:ext>
                </a:extLst>
              </a:tr>
              <a:tr h="2894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Hours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NUMBER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How many hours taken 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1677678"/>
                  </a:ext>
                </a:extLst>
              </a:tr>
              <a:tr h="4823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total_amount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Calculated rental cost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2359793"/>
                  </a:ext>
                </a:extLst>
              </a:tr>
              <a:tr h="14884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'pending'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Booking status: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PEN = pending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CON= confirmed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REJ = Rejected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577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415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11. product_categories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9D695F-D53C-4870-BCF0-F8E519BD3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7734"/>
              </p:ext>
            </p:extLst>
          </p:nvPr>
        </p:nvGraphicFramePr>
        <p:xfrm>
          <a:off x="1015999" y="2363788"/>
          <a:ext cx="10337801" cy="414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2688190483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402540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3233237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576109394"/>
                    </a:ext>
                  </a:extLst>
                </a:gridCol>
                <a:gridCol w="3154681">
                  <a:extLst>
                    <a:ext uri="{9D8B030D-6E8A-4147-A177-3AD203B41FA5}">
                      <a16:colId xmlns:a16="http://schemas.microsoft.com/office/drawing/2014/main" val="2564474234"/>
                    </a:ext>
                  </a:extLst>
                </a:gridCol>
              </a:tblGrid>
              <a:tr h="9007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72634976"/>
                  </a:ext>
                </a:extLst>
              </a:tr>
              <a:tr h="1179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Unique product category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748886159"/>
                  </a:ext>
                </a:extLst>
              </a:tr>
              <a:tr h="1179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Category_name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NOT NULL, UNIQUE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Category name (grains, seeds, fertilizers)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742709250"/>
                  </a:ext>
                </a:extLst>
              </a:tr>
              <a:tr h="8795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4245470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4032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12. Product_Subcategories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5ECD65-84ED-45BE-A729-B9E52EC5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4017"/>
              </p:ext>
            </p:extLst>
          </p:nvPr>
        </p:nvGraphicFramePr>
        <p:xfrm>
          <a:off x="1463040" y="2363788"/>
          <a:ext cx="9519921" cy="396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405675936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67457808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4114091778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2456423335"/>
                    </a:ext>
                  </a:extLst>
                </a:gridCol>
                <a:gridCol w="2611121">
                  <a:extLst>
                    <a:ext uri="{9D8B030D-6E8A-4147-A177-3AD203B41FA5}">
                      <a16:colId xmlns:a16="http://schemas.microsoft.com/office/drawing/2014/main" val="1743082239"/>
                    </a:ext>
                  </a:extLst>
                </a:gridCol>
              </a:tblGrid>
              <a:tr h="7965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2496964"/>
                  </a:ext>
                </a:extLst>
              </a:tr>
              <a:tr h="7090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179507"/>
                  </a:ext>
                </a:extLst>
              </a:tr>
              <a:tr h="990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Categories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Parent category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1633910"/>
                  </a:ext>
                </a:extLst>
              </a:tr>
              <a:tr h="7317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001995"/>
                  </a:ext>
                </a:extLst>
              </a:tr>
              <a:tr h="7317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1526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903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13. Product </a:t>
            </a:r>
            <a:r>
              <a:rPr lang="en-US" b="1" dirty="0"/>
              <a:t>Table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E4F700-A4A7-4CBB-AF5F-40A890AD1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450792"/>
              </p:ext>
            </p:extLst>
          </p:nvPr>
        </p:nvGraphicFramePr>
        <p:xfrm>
          <a:off x="1280160" y="2417941"/>
          <a:ext cx="9824718" cy="3959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9279">
                  <a:extLst>
                    <a:ext uri="{9D8B030D-6E8A-4147-A177-3AD203B41FA5}">
                      <a16:colId xmlns:a16="http://schemas.microsoft.com/office/drawing/2014/main" val="650216570"/>
                    </a:ext>
                  </a:extLst>
                </a:gridCol>
                <a:gridCol w="1704242">
                  <a:extLst>
                    <a:ext uri="{9D8B030D-6E8A-4147-A177-3AD203B41FA5}">
                      <a16:colId xmlns:a16="http://schemas.microsoft.com/office/drawing/2014/main" val="4197416180"/>
                    </a:ext>
                  </a:extLst>
                </a:gridCol>
                <a:gridCol w="851552">
                  <a:extLst>
                    <a:ext uri="{9D8B030D-6E8A-4147-A177-3AD203B41FA5}">
                      <a16:colId xmlns:a16="http://schemas.microsoft.com/office/drawing/2014/main" val="3547181521"/>
                    </a:ext>
                  </a:extLst>
                </a:gridCol>
                <a:gridCol w="2365487">
                  <a:extLst>
                    <a:ext uri="{9D8B030D-6E8A-4147-A177-3AD203B41FA5}">
                      <a16:colId xmlns:a16="http://schemas.microsoft.com/office/drawing/2014/main" val="567777627"/>
                    </a:ext>
                  </a:extLst>
                </a:gridCol>
                <a:gridCol w="2804158">
                  <a:extLst>
                    <a:ext uri="{9D8B030D-6E8A-4147-A177-3AD203B41FA5}">
                      <a16:colId xmlns:a16="http://schemas.microsoft.com/office/drawing/2014/main" val="3193263363"/>
                    </a:ext>
                  </a:extLst>
                </a:gridCol>
              </a:tblGrid>
              <a:tr h="6018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9977754"/>
                  </a:ext>
                </a:extLst>
              </a:tr>
              <a:tr h="4252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987741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seller_id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 seller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0722402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Subcategories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 subcategory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767997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50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5582941"/>
                  </a:ext>
                </a:extLst>
              </a:tr>
              <a:tr h="3378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 details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8020672"/>
                  </a:ext>
                </a:extLst>
              </a:tr>
              <a:tr h="498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Selling 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3118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965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Product </a:t>
            </a:r>
            <a:r>
              <a:rPr lang="en-US" b="1" dirty="0"/>
              <a:t>Table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(Conti…)</a:t>
            </a: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6D7677-CC0A-47D6-AC33-1950A46B5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943906"/>
              </p:ext>
            </p:extLst>
          </p:nvPr>
        </p:nvGraphicFramePr>
        <p:xfrm>
          <a:off x="975361" y="2351171"/>
          <a:ext cx="10378440" cy="44577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0559">
                  <a:extLst>
                    <a:ext uri="{9D8B030D-6E8A-4147-A177-3AD203B41FA5}">
                      <a16:colId xmlns:a16="http://schemas.microsoft.com/office/drawing/2014/main" val="49639383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1047832645"/>
                    </a:ext>
                  </a:extLst>
                </a:gridCol>
                <a:gridCol w="1352022">
                  <a:extLst>
                    <a:ext uri="{9D8B030D-6E8A-4147-A177-3AD203B41FA5}">
                      <a16:colId xmlns:a16="http://schemas.microsoft.com/office/drawing/2014/main" val="2139682905"/>
                    </a:ext>
                  </a:extLst>
                </a:gridCol>
                <a:gridCol w="2508778">
                  <a:extLst>
                    <a:ext uri="{9D8B030D-6E8A-4147-A177-3AD203B41FA5}">
                      <a16:colId xmlns:a16="http://schemas.microsoft.com/office/drawing/2014/main" val="1527940165"/>
                    </a:ext>
                  </a:extLst>
                </a:gridCol>
                <a:gridCol w="2504441">
                  <a:extLst>
                    <a:ext uri="{9D8B030D-6E8A-4147-A177-3AD203B41FA5}">
                      <a16:colId xmlns:a16="http://schemas.microsoft.com/office/drawing/2014/main" val="833162652"/>
                    </a:ext>
                  </a:extLst>
                </a:gridCol>
              </a:tblGrid>
              <a:tr h="2835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3027719"/>
                  </a:ext>
                </a:extLst>
              </a:tr>
              <a:tr h="3879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Quantity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Available quantity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9521586"/>
                  </a:ext>
                </a:extLst>
              </a:tr>
              <a:tr h="9033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Unit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Measurement unit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K = kg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 = liter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7177235"/>
                  </a:ext>
                </a:extLst>
              </a:tr>
              <a:tr h="943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listed_date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Listing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8185508"/>
                  </a:ext>
                </a:extLst>
              </a:tr>
              <a:tr h="18330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Approval_status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“PEN”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 approval Status: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PEN = pending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CON= confirmed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REJ = Rejected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8383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4559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14. Product_Orders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3EA9-109D-42CA-83AA-29AC5952A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27997"/>
              </p:ext>
            </p:extLst>
          </p:nvPr>
        </p:nvGraphicFramePr>
        <p:xfrm>
          <a:off x="1056640" y="2363788"/>
          <a:ext cx="10462198" cy="42928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1673">
                  <a:extLst>
                    <a:ext uri="{9D8B030D-6E8A-4147-A177-3AD203B41FA5}">
                      <a16:colId xmlns:a16="http://schemas.microsoft.com/office/drawing/2014/main" val="12761191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624118314"/>
                    </a:ext>
                  </a:extLst>
                </a:gridCol>
                <a:gridCol w="961644">
                  <a:extLst>
                    <a:ext uri="{9D8B030D-6E8A-4147-A177-3AD203B41FA5}">
                      <a16:colId xmlns:a16="http://schemas.microsoft.com/office/drawing/2014/main" val="3967156932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525333292"/>
                    </a:ext>
                  </a:extLst>
                </a:gridCol>
                <a:gridCol w="2580641">
                  <a:extLst>
                    <a:ext uri="{9D8B030D-6E8A-4147-A177-3AD203B41FA5}">
                      <a16:colId xmlns:a16="http://schemas.microsoft.com/office/drawing/2014/main" val="4080187297"/>
                    </a:ext>
                  </a:extLst>
                </a:gridCol>
              </a:tblGrid>
              <a:tr h="5019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960594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Order­­_id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Order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685942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Product_id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Products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Ordered product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7382093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buyer_id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Purchasing user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9534997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quantity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Ordered 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3239150"/>
                  </a:ext>
                </a:extLst>
              </a:tr>
              <a:tr h="2903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total_price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Calculated 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9583062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delivery_address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</a:t>
                      </a:r>
                      <a:r>
                        <a:rPr lang="en-US" sz="1800" dirty="0" err="1">
                          <a:effectLst/>
                        </a:rPr>
                        <a:t>User_Addresses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Shipping 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7787191"/>
                  </a:ext>
                </a:extLst>
              </a:tr>
              <a:tr h="9277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'pending'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Order status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PEN = pending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 = Confirmed</a:t>
                      </a:r>
                      <a:endParaRPr lang="en-IN" sz="18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CAN = cancelled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6514358"/>
                  </a:ext>
                </a:extLst>
              </a:tr>
              <a:tr h="4562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</a:rPr>
                        <a:t>order_date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Order 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3484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406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15. Messages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BD9362-4EBD-4EB1-AC09-B70CBE372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90722"/>
              </p:ext>
            </p:extLst>
          </p:nvPr>
        </p:nvGraphicFramePr>
        <p:xfrm>
          <a:off x="1270001" y="2363788"/>
          <a:ext cx="9946639" cy="3959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3732">
                  <a:extLst>
                    <a:ext uri="{9D8B030D-6E8A-4147-A177-3AD203B41FA5}">
                      <a16:colId xmlns:a16="http://schemas.microsoft.com/office/drawing/2014/main" val="4074273110"/>
                    </a:ext>
                  </a:extLst>
                </a:gridCol>
                <a:gridCol w="1478741">
                  <a:extLst>
                    <a:ext uri="{9D8B030D-6E8A-4147-A177-3AD203B41FA5}">
                      <a16:colId xmlns:a16="http://schemas.microsoft.com/office/drawing/2014/main" val="3349618845"/>
                    </a:ext>
                  </a:extLst>
                </a:gridCol>
                <a:gridCol w="1093785">
                  <a:extLst>
                    <a:ext uri="{9D8B030D-6E8A-4147-A177-3AD203B41FA5}">
                      <a16:colId xmlns:a16="http://schemas.microsoft.com/office/drawing/2014/main" val="1197162697"/>
                    </a:ext>
                  </a:extLst>
                </a:gridCol>
                <a:gridCol w="3430034">
                  <a:extLst>
                    <a:ext uri="{9D8B030D-6E8A-4147-A177-3AD203B41FA5}">
                      <a16:colId xmlns:a16="http://schemas.microsoft.com/office/drawing/2014/main" val="2047899450"/>
                    </a:ext>
                  </a:extLst>
                </a:gridCol>
                <a:gridCol w="2110347">
                  <a:extLst>
                    <a:ext uri="{9D8B030D-6E8A-4147-A177-3AD203B41FA5}">
                      <a16:colId xmlns:a16="http://schemas.microsoft.com/office/drawing/2014/main" val="709800896"/>
                    </a:ext>
                  </a:extLst>
                </a:gridCol>
              </a:tblGrid>
              <a:tr h="5657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9375416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message_id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PRIMARY KEY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Message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4921876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sender_id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Sender user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48492758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receiver_id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Recipient user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8480820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Content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Message 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2999525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is_read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BOOLEAN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FALSE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Read 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8382610"/>
                  </a:ext>
                </a:extLst>
              </a:tr>
              <a:tr h="5657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sent_at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Send 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2366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156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16. Reviews Table</a:t>
            </a: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44C70-76BF-4AF1-8B8E-355CC727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537863"/>
              </p:ext>
            </p:extLst>
          </p:nvPr>
        </p:nvGraphicFramePr>
        <p:xfrm>
          <a:off x="838200" y="2363788"/>
          <a:ext cx="11012555" cy="42293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4702">
                  <a:extLst>
                    <a:ext uri="{9D8B030D-6E8A-4147-A177-3AD203B41FA5}">
                      <a16:colId xmlns:a16="http://schemas.microsoft.com/office/drawing/2014/main" val="2778092220"/>
                    </a:ext>
                  </a:extLst>
                </a:gridCol>
                <a:gridCol w="1325285">
                  <a:extLst>
                    <a:ext uri="{9D8B030D-6E8A-4147-A177-3AD203B41FA5}">
                      <a16:colId xmlns:a16="http://schemas.microsoft.com/office/drawing/2014/main" val="3356156405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2494357302"/>
                    </a:ext>
                  </a:extLst>
                </a:gridCol>
                <a:gridCol w="3630486">
                  <a:extLst>
                    <a:ext uri="{9D8B030D-6E8A-4147-A177-3AD203B41FA5}">
                      <a16:colId xmlns:a16="http://schemas.microsoft.com/office/drawing/2014/main" val="272423661"/>
                    </a:ext>
                  </a:extLst>
                </a:gridCol>
                <a:gridCol w="3405674">
                  <a:extLst>
                    <a:ext uri="{9D8B030D-6E8A-4147-A177-3AD203B41FA5}">
                      <a16:colId xmlns:a16="http://schemas.microsoft.com/office/drawing/2014/main" val="2712651757"/>
                    </a:ext>
                  </a:extLst>
                </a:gridCol>
              </a:tblGrid>
              <a:tr h="3632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9916845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PRIMARY KEY, AUTO_INCREMENT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Unique review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48986"/>
                  </a:ext>
                </a:extLst>
              </a:tr>
              <a:tr h="26456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Reviewer_id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Reference to Users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056419"/>
                  </a:ext>
                </a:extLst>
              </a:tr>
              <a:tr h="72738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Review_type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 type: E = </a:t>
                      </a:r>
                      <a:r>
                        <a:rPr lang="en-IN" sz="1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40333"/>
                  </a:ext>
                </a:extLst>
              </a:tr>
              <a:tr h="7062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Reference from Product ID or </a:t>
                      </a:r>
                      <a:b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6101449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Rating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CHECK (rating BETWEEN 1 AND 5)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696154"/>
                  </a:ext>
                </a:extLst>
              </a:tr>
              <a:tr h="43897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 text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8977698"/>
                  </a:ext>
                </a:extLst>
              </a:tr>
              <a:tr h="80573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created_date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DATETIME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DEFAULT CURRENT_TIMESTAMP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 creation date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431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600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17. Complaints </a:t>
            </a:r>
            <a:r>
              <a:rPr lang="en-US" b="1" dirty="0"/>
              <a:t>Table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44C70-76BF-4AF1-8B8E-355CC727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13730"/>
              </p:ext>
            </p:extLst>
          </p:nvPr>
        </p:nvGraphicFramePr>
        <p:xfrm>
          <a:off x="726233" y="2273300"/>
          <a:ext cx="11012555" cy="4229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8347">
                  <a:extLst>
                    <a:ext uri="{9D8B030D-6E8A-4147-A177-3AD203B41FA5}">
                      <a16:colId xmlns:a16="http://schemas.microsoft.com/office/drawing/2014/main" val="2778092220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3356156405"/>
                    </a:ext>
                  </a:extLst>
                </a:gridCol>
                <a:gridCol w="961053">
                  <a:extLst>
                    <a:ext uri="{9D8B030D-6E8A-4147-A177-3AD203B41FA5}">
                      <a16:colId xmlns:a16="http://schemas.microsoft.com/office/drawing/2014/main" val="2494357302"/>
                    </a:ext>
                  </a:extLst>
                </a:gridCol>
                <a:gridCol w="3666930">
                  <a:extLst>
                    <a:ext uri="{9D8B030D-6E8A-4147-A177-3AD203B41FA5}">
                      <a16:colId xmlns:a16="http://schemas.microsoft.com/office/drawing/2014/main" val="272423661"/>
                    </a:ext>
                  </a:extLst>
                </a:gridCol>
                <a:gridCol w="3229270">
                  <a:extLst>
                    <a:ext uri="{9D8B030D-6E8A-4147-A177-3AD203B41FA5}">
                      <a16:colId xmlns:a16="http://schemas.microsoft.com/office/drawing/2014/main" val="2712651757"/>
                    </a:ext>
                  </a:extLst>
                </a:gridCol>
              </a:tblGrid>
              <a:tr h="2506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9916845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PRIMARY KEY, AUTO_INCREMENT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Unique complaint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48986"/>
                  </a:ext>
                </a:extLst>
              </a:tr>
              <a:tr h="26456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Complainant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056419"/>
                  </a:ext>
                </a:extLst>
              </a:tr>
              <a:tr h="72738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Complaint_type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 type: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 = </a:t>
                      </a:r>
                      <a:r>
                        <a:rPr lang="en-IN" sz="1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40333"/>
                  </a:ext>
                </a:extLst>
              </a:tr>
              <a:tr h="7062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Reference from Product ID or </a:t>
                      </a:r>
                      <a:b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6101449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 details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696154"/>
                  </a:ext>
                </a:extLst>
              </a:tr>
              <a:tr h="43897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DEFAULT ‘Open’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 status: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 = Open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InProgress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 = Resolved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8977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3190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27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3061</TotalTime>
  <Words>2453</Words>
  <Application>Microsoft Office PowerPoint</Application>
  <PresentationFormat>Widescreen</PresentationFormat>
  <Paragraphs>909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MS Mincho</vt:lpstr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 AgriRent - Agricultural Equipment Rental &amp; Farm Supplies Selling System</vt:lpstr>
      <vt:lpstr>Table of Content</vt:lpstr>
      <vt:lpstr>Project Definition</vt:lpstr>
      <vt:lpstr>Project Definition</vt:lpstr>
      <vt:lpstr>Project Definition</vt:lpstr>
      <vt:lpstr>Functional Requirements</vt:lpstr>
      <vt:lpstr>Functional Requirements</vt:lpstr>
      <vt:lpstr>Functional Requirements</vt:lpstr>
      <vt:lpstr>Functional Requirements</vt:lpstr>
      <vt:lpstr>Functional Requirements</vt:lpstr>
      <vt:lpstr>Functional Requirements</vt:lpstr>
      <vt:lpstr>Non-Functional Requirements</vt:lpstr>
      <vt:lpstr>Non-Functional Requirements (conti..)</vt:lpstr>
      <vt:lpstr>Non-Functional Requirements (conti..)</vt:lpstr>
      <vt:lpstr>Use Case Diagram</vt:lpstr>
      <vt:lpstr>Activity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PowerPoint Presentation</vt:lpstr>
      <vt:lpstr>PowerPoint Presentation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Data Dictionary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KKP</dc:creator>
  <cp:lastModifiedBy>admin</cp:lastModifiedBy>
  <cp:revision>176</cp:revision>
  <dcterms:created xsi:type="dcterms:W3CDTF">2025-08-13T08:10:01Z</dcterms:created>
  <dcterms:modified xsi:type="dcterms:W3CDTF">2025-08-25T18:09:08Z</dcterms:modified>
</cp:coreProperties>
</file>