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303" r:id="rId5"/>
    <p:sldId id="304" r:id="rId6"/>
    <p:sldId id="261" r:id="rId7"/>
    <p:sldId id="260" r:id="rId8"/>
    <p:sldId id="263" r:id="rId9"/>
    <p:sldId id="264" r:id="rId10"/>
    <p:sldId id="265" r:id="rId11"/>
    <p:sldId id="266" r:id="rId12"/>
    <p:sldId id="311" r:id="rId13"/>
    <p:sldId id="312" r:id="rId14"/>
    <p:sldId id="310" r:id="rId15"/>
    <p:sldId id="313" r:id="rId16"/>
    <p:sldId id="268" r:id="rId17"/>
    <p:sldId id="269" r:id="rId18"/>
    <p:sldId id="267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301" r:id="rId38"/>
    <p:sldId id="289" r:id="rId39"/>
    <p:sldId id="290" r:id="rId40"/>
    <p:sldId id="315" r:id="rId41"/>
    <p:sldId id="291" r:id="rId42"/>
    <p:sldId id="292" r:id="rId43"/>
    <p:sldId id="293" r:id="rId44"/>
    <p:sldId id="302" r:id="rId45"/>
    <p:sldId id="294" r:id="rId46"/>
    <p:sldId id="305" r:id="rId47"/>
    <p:sldId id="306" r:id="rId48"/>
    <p:sldId id="307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5268" autoAdjust="0"/>
  </p:normalViewPr>
  <p:slideViewPr>
    <p:cSldViewPr snapToGrid="0">
      <p:cViewPr>
        <p:scale>
          <a:sx n="100" d="100"/>
          <a:sy n="100" d="100"/>
        </p:scale>
        <p:origin x="106" y="-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F1ED1-F632-4210-90C6-A382D11BF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9093F6-2451-4A5E-8895-4EC3E060B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4393E-9DA6-4572-AB0D-E821272D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07304-0BB5-4E3E-B418-E1A8AC66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EA841-FB26-4EE4-8C2D-C085CFBF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37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9A3E4-026B-4CB1-A380-37F3420F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EDC08-5A3B-4AB4-A062-E74C421A2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0A18A-65B7-452F-A738-E77A084F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243E1-5458-46D9-A67B-A780637E5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BE068-D658-4B4C-A17E-686A9B3CB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42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B299-031F-48A8-BCAF-43A16B600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18115-7635-4859-89AD-1CD1191A5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BD2AD-50EF-4EAE-B9A9-0CC081A61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955E0-A798-4D66-B6B5-B47E57DF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A5E6C-A0BC-4228-8587-85C283927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0807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8030D-A634-4E14-B537-6C2DDF9C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739A-C3B5-4B85-A919-A7CD6BBD3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B92946-D213-4049-8922-9AA72ED78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2176B-D7C6-4CCA-8566-55052FB95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12D38-CBC9-4791-A7E9-D4C7B4AE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DA2C7-3DB6-4C7C-AC1D-75F03A82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897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EF71C-C053-4A0C-83AE-58D0FC892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2367-03F2-4597-8A19-F933044CB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EE887-91FF-42A7-A811-4D714E72C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8C855A-5380-4709-8552-A43784B1F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50D7BD-723B-4B9D-8B77-7B53A98FB6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4905CA-4923-4694-BBEA-6B3F983D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56430E-C4D3-4F74-A745-D2D0E2DE1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6AC7A-415C-4B81-ADFB-77F905E68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1A675-43E4-45A8-A342-E9FFE7DC2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F83D32-E0A5-486B-A709-8FC6D15E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31AD2-CD2C-40B2-90DE-D8D6E323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4FA05-660C-4A55-99C4-2C4DED8BD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449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30C2D-5DC3-481B-B69C-59A0C136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FD4A22-48C6-4820-946E-4304DE2AB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0AF28-0D46-4B18-A061-8FD2143E0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6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69F8-1412-4128-9880-8AC184057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33F12-F6A7-48F9-BC16-BC84B3C37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37F5EA-44B0-4529-8817-68EC7BDAF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C7AF3-A07E-4903-9CA1-5088E7C0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8EB96-1803-4AF6-BCBC-E7760E44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92959-7321-4CEF-803F-AEE3C145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085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C01A5-5015-48FA-BAB2-405C704A1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90792-E833-4345-BA65-DC2EB40042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6F9430-3C15-44D8-BC73-9A6363071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B8691-D324-423E-8FA7-C097CB881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D87CB-27CD-4D3C-8662-A94904AC6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8D1F8-614C-48DB-82A4-96F9D08E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71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9A92-0D5F-4D2F-9669-22AEAA58C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F57B0-0EB1-4D5F-99A5-1999DCA22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CDCC9-5FB0-4470-9912-E22BD6D12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787A-C33F-4015-B4D3-33037DCD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DA280-8F94-40B8-97AB-69CC827D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16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56087-D90A-450B-966B-CDEF83E20D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99D8E4-050E-4605-BBF9-4B8DCF5AE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7EB7F-A42F-44D4-A516-FDEE43C5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1F178-0123-4A2C-9AC6-F63343ED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16EE3-85D5-4F9B-98E6-8E5CD6EE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308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578EF5-8928-4823-BA5A-A1110E7A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5535-4259-4BD8-814D-F5D682DBE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96544-3DC1-4721-AB17-5F8723350F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AFD8A-A5CD-4C67-A3FF-50AE2C37EBEF}" type="datetimeFigureOut">
              <a:rPr lang="en-US" smtClean="0"/>
              <a:t>10/31/2025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37754-F83D-4798-AD12-B1FAEB0D1E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5702A-3CD9-490B-9437-A5FEA37A7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AE4098-16CC-460A-B51F-6F7D058EC8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4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34EC-BC2E-429F-889E-ACBDBD3A94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458" y="1866900"/>
            <a:ext cx="10413507" cy="2355660"/>
          </a:xfrm>
        </p:spPr>
        <p:txBody>
          <a:bodyPr>
            <a:normAutofit fontScale="90000"/>
          </a:bodyPr>
          <a:lstStyle/>
          <a:p>
            <a:b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sz="5300" b="1" dirty="0">
                <a:latin typeface="Cambria" panose="02040503050406030204" pitchFamily="18" charset="0"/>
                <a:ea typeface="Cambria" panose="02040503050406030204" pitchFamily="18" charset="0"/>
              </a:rPr>
              <a:t>AgriRent - Agricultural Equipment Rental &amp; Farm Supplies Selling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207B4-D25D-4CDF-B804-FD46CAF2A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1788" y="4235335"/>
            <a:ext cx="8490012" cy="2458427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Group Number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24</a:t>
            </a:r>
          </a:p>
          <a:p>
            <a:pPr algn="l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Group Members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algn="l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Hamish   202307100110120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Yash          202307100110141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l"/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3.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Darshak    202307100110172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l"/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Guide Name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:  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Dr. Preeti Bhatt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E40516-509F-4FD1-94F1-BE0ECBBD92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66700"/>
            <a:ext cx="3200400" cy="2133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E7CBE6-055E-4B12-926A-354FDDD8DA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CC88A1-2E75-45CF-821E-123FA2C0C2F9}"/>
              </a:ext>
            </a:extLst>
          </p:cNvPr>
          <p:cNvSpPr txBox="1"/>
          <p:nvPr/>
        </p:nvSpPr>
        <p:spPr>
          <a:xfrm>
            <a:off x="2305878" y="357809"/>
            <a:ext cx="7911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Babu Madhav Institute of Information Technology</a:t>
            </a: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5th Semester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Project Presentation</a:t>
            </a:r>
          </a:p>
          <a:p>
            <a:pPr algn="ctr"/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On</a:t>
            </a:r>
          </a:p>
          <a:p>
            <a:pPr algn="ctr"/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417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D33DF-71F1-4508-AA91-45BABEF10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Non-Functional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5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Project Definition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969276"/>
          </a:xfrm>
        </p:spPr>
        <p:txBody>
          <a:bodyPr>
            <a:normAutofit/>
          </a:bodyPr>
          <a:lstStyle/>
          <a:p>
            <a:pPr algn="just"/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Purpose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 AgriRent is web based system that lets equipment owners rent out farming machines to farmers.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It also helps manage the sale of farming products. The goal is to make it easy and affordable for farmers to access what they need.</a:t>
            </a:r>
          </a:p>
          <a:p>
            <a:pPr marL="0" indent="0" algn="just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08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endParaRPr lang="en-US" sz="3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Scope</a:t>
            </a:r>
          </a:p>
          <a:p>
            <a:pPr marL="0" indent="0" algn="just">
              <a:buNone/>
            </a:pPr>
            <a:endParaRPr lang="en-IN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A web-based platform accessible via desktop and mobile browsers.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/>
              <a:t> The platform is limited to one district </a:t>
            </a:r>
            <a:r>
              <a:rPr lang="en-US" dirty="0"/>
              <a:t>and all features and services will be available only to users within that district.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Make contact between farmers and equipment owners.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011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3000" b="1" dirty="0">
                <a:latin typeface="Cambria" panose="02040503050406030204" pitchFamily="18" charset="0"/>
                <a:ea typeface="Cambria" panose="02040503050406030204" pitchFamily="18" charset="0"/>
              </a:rPr>
              <a:t>Identification of Need</a:t>
            </a:r>
          </a:p>
          <a:p>
            <a:pPr marL="0" indent="0" algn="just">
              <a:buNone/>
            </a:pPr>
            <a:endParaRPr lang="en-IN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Many farmers can’t afford to buy expensive equipment and Farm Supplies.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This system helps them rent and buy what they need, saving money and making farming easier.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399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ambria" panose="02040503050406030204" pitchFamily="18" charset="0"/>
                <a:ea typeface="Cambria" panose="02040503050406030204" pitchFamily="18" charset="0"/>
              </a:rPr>
              <a:t>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167" y="1492898"/>
            <a:ext cx="11383347" cy="5290457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 User Management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798E86-FB14-43FB-A5C8-2CC885694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034096"/>
              </p:ext>
            </p:extLst>
          </p:nvPr>
        </p:nvGraphicFramePr>
        <p:xfrm>
          <a:off x="479999" y="2053405"/>
          <a:ext cx="11232000" cy="46371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5688">
                  <a:extLst>
                    <a:ext uri="{9D8B030D-6E8A-4147-A177-3AD203B41FA5}">
                      <a16:colId xmlns:a16="http://schemas.microsoft.com/office/drawing/2014/main" val="4136287008"/>
                    </a:ext>
                  </a:extLst>
                </a:gridCol>
                <a:gridCol w="4543387">
                  <a:extLst>
                    <a:ext uri="{9D8B030D-6E8A-4147-A177-3AD203B41FA5}">
                      <a16:colId xmlns:a16="http://schemas.microsoft.com/office/drawing/2014/main" val="3463948410"/>
                    </a:ext>
                  </a:extLst>
                </a:gridCol>
                <a:gridCol w="3288100">
                  <a:extLst>
                    <a:ext uri="{9D8B030D-6E8A-4147-A177-3AD203B41FA5}">
                      <a16:colId xmlns:a16="http://schemas.microsoft.com/office/drawing/2014/main" val="4127972305"/>
                    </a:ext>
                  </a:extLst>
                </a:gridCol>
                <a:gridCol w="1854825">
                  <a:extLst>
                    <a:ext uri="{9D8B030D-6E8A-4147-A177-3AD203B41FA5}">
                      <a16:colId xmlns:a16="http://schemas.microsoft.com/office/drawing/2014/main" val="197500005"/>
                    </a:ext>
                  </a:extLst>
                </a:gridCol>
              </a:tblGrid>
              <a:tr h="5611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0352050"/>
                  </a:ext>
                </a:extLst>
              </a:tr>
              <a:tr h="13202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allow new users to register by providing essential details including name, email, phone number, password, and user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Validates mobile number format and password strength; User types: Equipment Owner (O), Farmer (F), Admin (A)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Registration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30103219"/>
                  </a:ext>
                </a:extLst>
              </a:tr>
              <a:tr h="79853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allow registered users to log in using their mobile number and password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Implements session management to maintain authentication state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Login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0442251"/>
                  </a:ext>
                </a:extLst>
              </a:tr>
              <a:tr h="94603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provide a 'Forgot Password' feature to allow users to reset their password securely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OTP sent to registered mobile number for verification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Forgot Password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79778835"/>
                  </a:ext>
                </a:extLst>
              </a:tr>
              <a:tr h="9460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FR-04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allow users to manage their profile information and addresses</a:t>
                      </a:r>
                      <a:endParaRPr lang="en-IN" sz="1800" dirty="0">
                        <a:solidFill>
                          <a:schemeClr val="tx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Users can add/update address, city, state, and pincode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 Profile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38326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5372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966525"/>
          </a:xfrm>
        </p:spPr>
        <p:txBody>
          <a:bodyPr>
            <a:normAutofit/>
          </a:bodyPr>
          <a:lstStyle/>
          <a:p>
            <a:pPr algn="ctr"/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49" y="1429305"/>
            <a:ext cx="11514337" cy="5299969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      Subscription Management</a:t>
            </a:r>
          </a:p>
          <a:p>
            <a:pPr marL="0" indent="0">
              <a:lnSpc>
                <a:spcPct val="100000"/>
              </a:lnSpc>
              <a:buNone/>
            </a:pP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199EA4-32E1-4DC9-85EA-F1712FB6F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264436"/>
              </p:ext>
            </p:extLst>
          </p:nvPr>
        </p:nvGraphicFramePr>
        <p:xfrm>
          <a:off x="514810" y="2004750"/>
          <a:ext cx="11159413" cy="45719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2205">
                  <a:extLst>
                    <a:ext uri="{9D8B030D-6E8A-4147-A177-3AD203B41FA5}">
                      <a16:colId xmlns:a16="http://schemas.microsoft.com/office/drawing/2014/main" val="1500530190"/>
                    </a:ext>
                  </a:extLst>
                </a:gridCol>
                <a:gridCol w="4191742">
                  <a:extLst>
                    <a:ext uri="{9D8B030D-6E8A-4147-A177-3AD203B41FA5}">
                      <a16:colId xmlns:a16="http://schemas.microsoft.com/office/drawing/2014/main" val="1561377168"/>
                    </a:ext>
                  </a:extLst>
                </a:gridCol>
                <a:gridCol w="3158969">
                  <a:extLst>
                    <a:ext uri="{9D8B030D-6E8A-4147-A177-3AD203B41FA5}">
                      <a16:colId xmlns:a16="http://schemas.microsoft.com/office/drawing/2014/main" val="1282647973"/>
                    </a:ext>
                  </a:extLst>
                </a:gridCol>
                <a:gridCol w="2256497">
                  <a:extLst>
                    <a:ext uri="{9D8B030D-6E8A-4147-A177-3AD203B41FA5}">
                      <a16:colId xmlns:a16="http://schemas.microsoft.com/office/drawing/2014/main" val="1118518941"/>
                    </a:ext>
                  </a:extLst>
                </a:gridCol>
              </a:tblGrid>
              <a:tr h="5960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90815684"/>
                  </a:ext>
                </a:extLst>
              </a:tr>
              <a:tr h="90535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allow users to view available subscription plans with pricing, features, and duration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Plans categorized by user type and plan type (Monthly/Yearly)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Subscription Plans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9767406"/>
                  </a:ext>
                </a:extLst>
              </a:tr>
              <a:tr h="102352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integrate with UPI payment gateway to process payments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Uses QR code scanner and UPI app links (PhonePe, Google Pay, Paytm, BHIM UPI)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Payment Processing Module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2170610"/>
                  </a:ext>
                </a:extLst>
              </a:tr>
              <a:tr h="1023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require users to enter UPI Transaction ID (12-digit) after payment completion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Transaction ID validated and stored for admin verification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Payment Confirmation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29466447"/>
                  </a:ext>
                </a:extLst>
              </a:tr>
              <a:tr h="10235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FR-04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track subscription status as Active (A), Expired (E), Cancelled (C), or Pending (P)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Auto-expiry functionality when end_date passes current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Subscription Tracking System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25310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482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01" y="151490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Equipment &amp; Product Management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00A44A3-96E4-4941-A71A-4BC626D29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365497"/>
              </p:ext>
            </p:extLst>
          </p:nvPr>
        </p:nvGraphicFramePr>
        <p:xfrm>
          <a:off x="601462" y="2058019"/>
          <a:ext cx="10989076" cy="4536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4358">
                  <a:extLst>
                    <a:ext uri="{9D8B030D-6E8A-4147-A177-3AD203B41FA5}">
                      <a16:colId xmlns:a16="http://schemas.microsoft.com/office/drawing/2014/main" val="3434136041"/>
                    </a:ext>
                  </a:extLst>
                </a:gridCol>
                <a:gridCol w="3879542">
                  <a:extLst>
                    <a:ext uri="{9D8B030D-6E8A-4147-A177-3AD203B41FA5}">
                      <a16:colId xmlns:a16="http://schemas.microsoft.com/office/drawing/2014/main" val="1431648906"/>
                    </a:ext>
                  </a:extLst>
                </a:gridCol>
                <a:gridCol w="2920753">
                  <a:extLst>
                    <a:ext uri="{9D8B030D-6E8A-4147-A177-3AD203B41FA5}">
                      <a16:colId xmlns:a16="http://schemas.microsoft.com/office/drawing/2014/main" val="3197468576"/>
                    </a:ext>
                  </a:extLst>
                </a:gridCol>
                <a:gridCol w="2654423">
                  <a:extLst>
                    <a:ext uri="{9D8B030D-6E8A-4147-A177-3AD203B41FA5}">
                      <a16:colId xmlns:a16="http://schemas.microsoft.com/office/drawing/2014/main" val="1913230092"/>
                    </a:ext>
                  </a:extLst>
                </a:gridCol>
              </a:tblGrid>
              <a:tr h="6322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6882237"/>
                  </a:ext>
                </a:extLst>
              </a:tr>
              <a:tr h="96023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Owner shall be able to manage equipment.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Includes add, update, delete, view.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Owner Dashboard - Equipment Management.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61228683"/>
                  </a:ext>
                </a:extLst>
              </a:tr>
              <a:tr h="115367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Farmer and Equipment Owner shall be able to manage products.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Includes add, update, delete, view.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Owner Dashboard ,Farmer Dashboard - Product Management.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7778147"/>
                  </a:ext>
                </a:extLst>
              </a:tr>
              <a:tr h="6322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Users shall be able to view available equipment and products.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Includes search, filter, and sort.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Main Catalog / Browse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9416035"/>
                  </a:ext>
                </a:extLst>
              </a:tr>
              <a:tr h="11576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FR-04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store images for equipment and products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Manage type indicator (E=Equipment, P=Product)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with storage URLs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Images Table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48436248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4AEBC409-5388-4757-8221-CC231856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1979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2441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Booking &amp; Order Management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246E11-1913-40F3-A931-E3F38FA055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758940"/>
              </p:ext>
            </p:extLst>
          </p:nvPr>
        </p:nvGraphicFramePr>
        <p:xfrm>
          <a:off x="692458" y="2363790"/>
          <a:ext cx="10661343" cy="38131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1550">
                  <a:extLst>
                    <a:ext uri="{9D8B030D-6E8A-4147-A177-3AD203B41FA5}">
                      <a16:colId xmlns:a16="http://schemas.microsoft.com/office/drawing/2014/main" val="3474566665"/>
                    </a:ext>
                  </a:extLst>
                </a:gridCol>
                <a:gridCol w="4039340">
                  <a:extLst>
                    <a:ext uri="{9D8B030D-6E8A-4147-A177-3AD203B41FA5}">
                      <a16:colId xmlns:a16="http://schemas.microsoft.com/office/drawing/2014/main" val="3374403746"/>
                    </a:ext>
                  </a:extLst>
                </a:gridCol>
                <a:gridCol w="3089429">
                  <a:extLst>
                    <a:ext uri="{9D8B030D-6E8A-4147-A177-3AD203B41FA5}">
                      <a16:colId xmlns:a16="http://schemas.microsoft.com/office/drawing/2014/main" val="1834686623"/>
                    </a:ext>
                  </a:extLst>
                </a:gridCol>
                <a:gridCol w="2121024">
                  <a:extLst>
                    <a:ext uri="{9D8B030D-6E8A-4147-A177-3AD203B41FA5}">
                      <a16:colId xmlns:a16="http://schemas.microsoft.com/office/drawing/2014/main" val="3205862840"/>
                    </a:ext>
                  </a:extLst>
                </a:gridCol>
              </a:tblGrid>
              <a:tr h="6498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52708674"/>
                  </a:ext>
                </a:extLst>
              </a:tr>
              <a:tr h="98316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Users shall be able to submit booking requests for equipment with start date, end date, and hours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System checks for availability conflicts to prevent double bookings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Detail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19140640"/>
                  </a:ext>
                </a:extLst>
              </a:tr>
              <a:tr h="86367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Users shall be able to submit orders for products with quantity selection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Order calculation: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quantity × price per unit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 Detail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52669190"/>
                  </a:ext>
                </a:extLst>
              </a:tr>
              <a:tr h="131648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automatically calculate total amounts for bookings and orders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Booking: (hours ×hourly rate)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or (days × daily rate); 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Order: quantity × 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 booking or Product orders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2039019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6C808C90-FC90-4253-9BA2-BD25219D0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7084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2" y="1462882"/>
            <a:ext cx="11313850" cy="5257799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    Communication, Review and Complaint 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C4B847-77DC-437B-AEA6-87DCFD734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832971"/>
              </p:ext>
            </p:extLst>
          </p:nvPr>
        </p:nvGraphicFramePr>
        <p:xfrm>
          <a:off x="631794" y="1962944"/>
          <a:ext cx="10928412" cy="45862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4918">
                  <a:extLst>
                    <a:ext uri="{9D8B030D-6E8A-4147-A177-3AD203B41FA5}">
                      <a16:colId xmlns:a16="http://schemas.microsoft.com/office/drawing/2014/main" val="3928966324"/>
                    </a:ext>
                  </a:extLst>
                </a:gridCol>
                <a:gridCol w="4286266">
                  <a:extLst>
                    <a:ext uri="{9D8B030D-6E8A-4147-A177-3AD203B41FA5}">
                      <a16:colId xmlns:a16="http://schemas.microsoft.com/office/drawing/2014/main" val="1173998136"/>
                    </a:ext>
                  </a:extLst>
                </a:gridCol>
                <a:gridCol w="2928318">
                  <a:extLst>
                    <a:ext uri="{9D8B030D-6E8A-4147-A177-3AD203B41FA5}">
                      <a16:colId xmlns:a16="http://schemas.microsoft.com/office/drawing/2014/main" val="4203534516"/>
                    </a:ext>
                  </a:extLst>
                </a:gridCol>
                <a:gridCol w="2328910">
                  <a:extLst>
                    <a:ext uri="{9D8B030D-6E8A-4147-A177-3AD203B41FA5}">
                      <a16:colId xmlns:a16="http://schemas.microsoft.com/office/drawing/2014/main" val="1449970378"/>
                    </a:ext>
                  </a:extLst>
                </a:gridCol>
              </a:tblGrid>
              <a:tr h="55048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2731377"/>
                  </a:ext>
                </a:extLst>
              </a:tr>
              <a:tr h="11511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Users shall be able to submit reviews and ratings (1-5 stars) for items they have rented or ordered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Users can only review items they have rented or ordered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 History / Review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6083412"/>
                  </a:ext>
                </a:extLst>
              </a:tr>
              <a:tr h="85801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provide WhatsApp integration to facilitate direct communication between users (farmers, equipment owners) and administrators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Clicking WhatsApp button redirects users to WhatsApp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Equipment Detail and 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 Detail page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369966659"/>
                  </a:ext>
                </a:extLst>
              </a:tr>
              <a:tr h="115112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Users shall be able to submit complaints with description and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Statuses: Pending and Resolved.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and Product Page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524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FR-04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display reviews with ratings and comments on listing pages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Shows reviewer information and creation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Listing Pages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06926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5B360A39-2FBC-4BB9-91EE-5BD267C0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319"/>
            <a:ext cx="10515600" cy="13255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049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107" y="1396014"/>
            <a:ext cx="11448287" cy="5461986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         Administrative Functions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5E31B-3C38-4A0A-AFC1-41C45D16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198685"/>
              </p:ext>
            </p:extLst>
          </p:nvPr>
        </p:nvGraphicFramePr>
        <p:xfrm>
          <a:off x="475606" y="1935331"/>
          <a:ext cx="11152513" cy="48068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5316">
                  <a:extLst>
                    <a:ext uri="{9D8B030D-6E8A-4147-A177-3AD203B41FA5}">
                      <a16:colId xmlns:a16="http://schemas.microsoft.com/office/drawing/2014/main" val="2107100256"/>
                    </a:ext>
                  </a:extLst>
                </a:gridCol>
                <a:gridCol w="4211141">
                  <a:extLst>
                    <a:ext uri="{9D8B030D-6E8A-4147-A177-3AD203B41FA5}">
                      <a16:colId xmlns:a16="http://schemas.microsoft.com/office/drawing/2014/main" val="580924436"/>
                    </a:ext>
                  </a:extLst>
                </a:gridCol>
                <a:gridCol w="3293821">
                  <a:extLst>
                    <a:ext uri="{9D8B030D-6E8A-4147-A177-3AD203B41FA5}">
                      <a16:colId xmlns:a16="http://schemas.microsoft.com/office/drawing/2014/main" val="2640167911"/>
                    </a:ext>
                  </a:extLst>
                </a:gridCol>
                <a:gridCol w="2062235">
                  <a:extLst>
                    <a:ext uri="{9D8B030D-6E8A-4147-A177-3AD203B41FA5}">
                      <a16:colId xmlns:a16="http://schemas.microsoft.com/office/drawing/2014/main" val="53049036"/>
                    </a:ext>
                  </a:extLst>
                </a:gridCol>
              </a:tblGrid>
              <a:tr h="66525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Requirement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Comments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Component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9321528"/>
                  </a:ext>
                </a:extLst>
              </a:tr>
              <a:tr h="1438167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administrator shall have a centralized dashboard to manage pending approval requests for equipment listings, product listings, and subscription payments.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Provides a summary of all pending actions. Admin can approve or reject equipment, products, and subscriptions.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Admin  Dashboard – Product  and Equipment  Page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373772"/>
                  </a:ext>
                </a:extLst>
              </a:tr>
              <a:tr h="134770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Admin shall be able to verify payments by reviewing UPI Transaction IDs submitted by Users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Updates payment status from Pending to Completed after verification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 REFUND PROCESSING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Admin Dashboard - Subscriptions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50174727"/>
                  </a:ext>
                </a:extLst>
              </a:tr>
              <a:tr h="1347709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FR-03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generate reports on users, equipment listings, product listings, bookings, orders, and subscriptions for administrative analysis.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Reports exportable in CSV and PDF formats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Admin Dashboard – Reports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13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506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4C31-F826-BC65-1D13-6C66FA139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4F4E-2E4F-1978-7B82-E04E585A6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03754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Non-Functional Requirements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510BC-7619-BFC6-4920-E1A149D283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07402A-BA8F-1B91-80AA-CDE0013B86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F2968D6-E6D7-976E-00D1-27CA18305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0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Performance</a:t>
            </a:r>
            <a:r>
              <a:rPr lang="en-IN" dirty="0"/>
              <a:t>		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Security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2BF9B1-5FFB-DBBA-5FBB-2BB2287AB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73186"/>
              </p:ext>
            </p:extLst>
          </p:nvPr>
        </p:nvGraphicFramePr>
        <p:xfrm>
          <a:off x="676180" y="2020903"/>
          <a:ext cx="10839634" cy="1015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556">
                  <a:extLst>
                    <a:ext uri="{9D8B030D-6E8A-4147-A177-3AD203B41FA5}">
                      <a16:colId xmlns:a16="http://schemas.microsoft.com/office/drawing/2014/main" val="1196238968"/>
                    </a:ext>
                  </a:extLst>
                </a:gridCol>
                <a:gridCol w="4953740">
                  <a:extLst>
                    <a:ext uri="{9D8B030D-6E8A-4147-A177-3AD203B41FA5}">
                      <a16:colId xmlns:a16="http://schemas.microsoft.com/office/drawing/2014/main" val="3382254211"/>
                    </a:ext>
                  </a:extLst>
                </a:gridCol>
                <a:gridCol w="4946338">
                  <a:extLst>
                    <a:ext uri="{9D8B030D-6E8A-4147-A177-3AD203B41FA5}">
                      <a16:colId xmlns:a16="http://schemas.microsoft.com/office/drawing/2014/main" val="108897893"/>
                    </a:ext>
                  </a:extLst>
                </a:gridCol>
              </a:tblGrid>
              <a:tr h="37433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1986712"/>
                  </a:ext>
                </a:extLst>
              </a:tr>
              <a:tr h="640754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The system should respond to user actions (login, viewing listings, etc.)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Ensures fast page loading and smooth navigation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6270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9C4BB91-EAE9-9453-6D10-8419F8EE7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87472"/>
              </p:ext>
            </p:extLst>
          </p:nvPr>
        </p:nvGraphicFramePr>
        <p:xfrm>
          <a:off x="676182" y="3610948"/>
          <a:ext cx="11005744" cy="3106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8900">
                  <a:extLst>
                    <a:ext uri="{9D8B030D-6E8A-4147-A177-3AD203B41FA5}">
                      <a16:colId xmlns:a16="http://schemas.microsoft.com/office/drawing/2014/main" val="1196238968"/>
                    </a:ext>
                  </a:extLst>
                </a:gridCol>
                <a:gridCol w="5317256">
                  <a:extLst>
                    <a:ext uri="{9D8B030D-6E8A-4147-A177-3AD203B41FA5}">
                      <a16:colId xmlns:a16="http://schemas.microsoft.com/office/drawing/2014/main" val="3382254211"/>
                    </a:ext>
                  </a:extLst>
                </a:gridCol>
                <a:gridCol w="4739588">
                  <a:extLst>
                    <a:ext uri="{9D8B030D-6E8A-4147-A177-3AD203B41FA5}">
                      <a16:colId xmlns:a16="http://schemas.microsoft.com/office/drawing/2014/main" val="4274659219"/>
                    </a:ext>
                  </a:extLst>
                </a:gridCol>
              </a:tblGrid>
              <a:tr h="2680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1986712"/>
                  </a:ext>
                </a:extLst>
              </a:tr>
              <a:tr h="900625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Only authorized users should access their respective dashboards and functions.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Role-based access control (Equipment Owner, Farmer, Admin)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914922"/>
                  </a:ext>
                </a:extLst>
              </a:tr>
              <a:tr h="630438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Registration and password recovery requires secure authentication using phone number and OTP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Two-factor authentication for enhanced security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472488"/>
                  </a:ext>
                </a:extLst>
              </a:tr>
              <a:tr h="630438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prevent SQL injection attacks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Implemented using prepared statements with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bind_param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()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884844"/>
                  </a:ext>
                </a:extLst>
              </a:tr>
              <a:tr h="630438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 passwords must be encrypted using hash algorithms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Uses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password_hash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() with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bcrypt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 algorithm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690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058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40A27-7B59-4F15-9D16-B0C6A121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A15725-BB39-4567-753F-162CFD74B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AA471B-B71B-8046-3BEF-8C817BA913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F2A8B1-A92F-E4F7-66AB-036BD2C01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2190750"/>
            <a:ext cx="10839635" cy="453852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  Scalability</a:t>
            </a: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BB02127-B7EC-E5CD-5D94-C2CA26120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608453"/>
              </p:ext>
            </p:extLst>
          </p:nvPr>
        </p:nvGraphicFramePr>
        <p:xfrm>
          <a:off x="1017971" y="2835275"/>
          <a:ext cx="10156054" cy="2275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8788">
                  <a:extLst>
                    <a:ext uri="{9D8B030D-6E8A-4147-A177-3AD203B41FA5}">
                      <a16:colId xmlns:a16="http://schemas.microsoft.com/office/drawing/2014/main" val="1196238968"/>
                    </a:ext>
                  </a:extLst>
                </a:gridCol>
                <a:gridCol w="4927107">
                  <a:extLst>
                    <a:ext uri="{9D8B030D-6E8A-4147-A177-3AD203B41FA5}">
                      <a16:colId xmlns:a16="http://schemas.microsoft.com/office/drawing/2014/main" val="3382254211"/>
                    </a:ext>
                  </a:extLst>
                </a:gridCol>
                <a:gridCol w="4270159">
                  <a:extLst>
                    <a:ext uri="{9D8B030D-6E8A-4147-A177-3AD203B41FA5}">
                      <a16:colId xmlns:a16="http://schemas.microsoft.com/office/drawing/2014/main" val="3701053885"/>
                    </a:ext>
                  </a:extLst>
                </a:gridCol>
              </a:tblGrid>
              <a:tr h="37394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198671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application should be easily scalable to support increased listings, more users, and additional features in the future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Modular code structure allows easy expansion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6270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NFR-02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should handle at least 1000 concurrent users without performance degradation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Supports district-wide user base growth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160472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9B4F3404-8F03-4C3D-A855-B7DD212A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0558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 </a:t>
            </a:r>
            <a:endParaRPr lang="en-IN" dirty="0"/>
          </a:p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Usability</a:t>
            </a:r>
            <a:endParaRPr lang="en-IN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64DDF41-39A4-41A4-95E8-2A62DFA3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E36EB8C-1BE4-4C5E-88BE-D4E37457A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284000"/>
              </p:ext>
            </p:extLst>
          </p:nvPr>
        </p:nvGraphicFramePr>
        <p:xfrm>
          <a:off x="1012054" y="2794088"/>
          <a:ext cx="10005134" cy="3127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666">
                  <a:extLst>
                    <a:ext uri="{9D8B030D-6E8A-4147-A177-3AD203B41FA5}">
                      <a16:colId xmlns:a16="http://schemas.microsoft.com/office/drawing/2014/main" val="3687710044"/>
                    </a:ext>
                  </a:extLst>
                </a:gridCol>
                <a:gridCol w="5326602">
                  <a:extLst>
                    <a:ext uri="{9D8B030D-6E8A-4147-A177-3AD203B41FA5}">
                      <a16:colId xmlns:a16="http://schemas.microsoft.com/office/drawing/2014/main" val="435514738"/>
                    </a:ext>
                  </a:extLst>
                </a:gridCol>
                <a:gridCol w="3710866">
                  <a:extLst>
                    <a:ext uri="{9D8B030D-6E8A-4147-A177-3AD203B41FA5}">
                      <a16:colId xmlns:a16="http://schemas.microsoft.com/office/drawing/2014/main" val="295231089"/>
                    </a:ext>
                  </a:extLst>
                </a:gridCol>
              </a:tblGrid>
              <a:tr h="39565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2281972"/>
                  </a:ext>
                </a:extLst>
              </a:tr>
              <a:tr h="682915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NFR-01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have an attractive and clear user interface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Responsive design with intuitive navigation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127515"/>
                  </a:ext>
                </a:extLst>
              </a:tr>
              <a:tr h="682915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NFR-02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 system should support multiple languages, including English, Gujarati, and Hindi.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Enhances accessibility for diverse user base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087373"/>
                  </a:ext>
                </a:extLst>
              </a:tr>
              <a:tr h="682915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NFR-03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Error messages shall be clear and actionable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Guides users to correct actions without confusion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6395807"/>
                  </a:ext>
                </a:extLst>
              </a:tr>
              <a:tr h="682915">
                <a:tc>
                  <a:txBody>
                    <a:bodyPr/>
                    <a:lstStyle/>
                    <a:p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NFR-04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should be mobile-friendly and responsive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Works seamlessly on tablets and smartphones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878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3502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181" y="1600200"/>
            <a:ext cx="10839635" cy="5129074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 Availability</a:t>
            </a:r>
          </a:p>
          <a:p>
            <a:pPr marL="0" indent="0">
              <a:buNone/>
            </a:pPr>
            <a:r>
              <a:rPr lang="en-IN" b="1" dirty="0"/>
              <a:t> 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 Data Integrity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C5E31B-3C38-4A0A-AFC1-41C45D163B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678316"/>
              </p:ext>
            </p:extLst>
          </p:nvPr>
        </p:nvGraphicFramePr>
        <p:xfrm>
          <a:off x="739408" y="4153206"/>
          <a:ext cx="10713178" cy="24881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21441">
                  <a:extLst>
                    <a:ext uri="{9D8B030D-6E8A-4147-A177-3AD203B41FA5}">
                      <a16:colId xmlns:a16="http://schemas.microsoft.com/office/drawing/2014/main" val="2107100256"/>
                    </a:ext>
                  </a:extLst>
                </a:gridCol>
                <a:gridCol w="5467739">
                  <a:extLst>
                    <a:ext uri="{9D8B030D-6E8A-4147-A177-3AD203B41FA5}">
                      <a16:colId xmlns:a16="http://schemas.microsoft.com/office/drawing/2014/main" val="580924436"/>
                    </a:ext>
                  </a:extLst>
                </a:gridCol>
                <a:gridCol w="4323998">
                  <a:extLst>
                    <a:ext uri="{9D8B030D-6E8A-4147-A177-3AD203B41FA5}">
                      <a16:colId xmlns:a16="http://schemas.microsoft.com/office/drawing/2014/main" val="2797654219"/>
                    </a:ext>
                  </a:extLst>
                </a:gridCol>
              </a:tblGrid>
              <a:tr h="54838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9321528"/>
                  </a:ext>
                </a:extLst>
              </a:tr>
              <a:tr h="9698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NFR-01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All equipment rental, product sale, and payment transactions must be recorded accurately, avoiding duplication, loss, or error.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Ensures accurate and complete data recording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10137456"/>
                  </a:ext>
                </a:extLst>
              </a:tr>
              <a:tr h="96986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NFR-02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shall allow administrators to backup and download the complete database to ensure data security and enable database migration.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Creates SQL backup files; Displays backup list with file details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1522071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564DDF41-39A4-41A4-95E8-2A62DFA3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C177A87-94C9-4928-959E-BD7868538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943082"/>
              </p:ext>
            </p:extLst>
          </p:nvPr>
        </p:nvGraphicFramePr>
        <p:xfrm>
          <a:off x="739408" y="2182929"/>
          <a:ext cx="10713180" cy="1016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4861">
                  <a:extLst>
                    <a:ext uri="{9D8B030D-6E8A-4147-A177-3AD203B41FA5}">
                      <a16:colId xmlns:a16="http://schemas.microsoft.com/office/drawing/2014/main" val="1057059765"/>
                    </a:ext>
                  </a:extLst>
                </a:gridCol>
                <a:gridCol w="5897260">
                  <a:extLst>
                    <a:ext uri="{9D8B030D-6E8A-4147-A177-3AD203B41FA5}">
                      <a16:colId xmlns:a16="http://schemas.microsoft.com/office/drawing/2014/main" val="1060483194"/>
                    </a:ext>
                  </a:extLst>
                </a:gridCol>
                <a:gridCol w="3571059">
                  <a:extLst>
                    <a:ext uri="{9D8B030D-6E8A-4147-A177-3AD203B41FA5}">
                      <a16:colId xmlns:a16="http://schemas.microsoft.com/office/drawing/2014/main" val="2480482779"/>
                    </a:ext>
                  </a:extLst>
                </a:gridCol>
              </a:tblGrid>
              <a:tr h="37611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65209104"/>
                  </a:ext>
                </a:extLst>
              </a:tr>
              <a:tr h="376110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NFR-01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The system should be accessible 24/7 with minimal downtime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Target uptime of 99% availability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5211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668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655807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Use Case Diagram</a:t>
            </a:r>
            <a:endParaRPr lang="en-US" sz="36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94154B4-CEFB-470C-A161-E0CD6F901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096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1808" y="365125"/>
            <a:ext cx="8428383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Activity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9A50F38-6198-4F1B-B5D9-5EE5F2B05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27867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Registration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D247CF-5ECC-40D8-9A65-6D4E306C2C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500326"/>
            <a:ext cx="3490297" cy="4918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48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User Login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B71BD2-2928-4116-9595-F764544ADB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60" y="680085"/>
            <a:ext cx="5974672" cy="6213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07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/>
          <a:p>
            <a:r>
              <a:rPr lang="en-IN" b="1" dirty="0"/>
              <a:t>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Change Password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0E31CB-3132-41C4-A1E7-460FB04B8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742" y="441318"/>
            <a:ext cx="5591475" cy="612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553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/>
              <a:t>Forgot Password 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D83643-D132-4734-898F-5EF29113AA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974" y="292962"/>
            <a:ext cx="4546052" cy="619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64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6936" y="-266700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Subscription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6DA940-F99C-4F25-B480-A5419C9FAD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428" y="577828"/>
            <a:ext cx="5609724" cy="604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018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Manage Equipment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6E7D7-CEF9-49EA-9CEC-CAE55101A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951" y="201967"/>
            <a:ext cx="5353025" cy="645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66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Manage Product </a:t>
            </a:r>
            <a:r>
              <a:rPr lang="en-IN" b="1" dirty="0"/>
              <a:t>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5EA0D4-1A1E-4241-995A-C4D83261FE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438" y="310718"/>
            <a:ext cx="5274700" cy="63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51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/>
              <a:t>Equipment Booking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07321-B4E7-4C9E-805B-67D9D307D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426" y="241916"/>
            <a:ext cx="4005201" cy="637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488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/>
              <a:t>Product Order 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643788-FB46-45F7-8065-88984C4307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612" y="206405"/>
            <a:ext cx="4456589" cy="644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66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Complaint 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244DCB-B3F1-4CC4-8EFE-1E485E2734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253" y="1948788"/>
            <a:ext cx="47244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28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/>
              <a:t>Submit Review  </a:t>
            </a:r>
            <a:r>
              <a:rPr lang="en-IN" dirty="0"/>
              <a:t>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AC68ED-A2AD-4642-9B1F-E02DCDE82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6277" y="139823"/>
            <a:ext cx="7725523" cy="657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802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A69875-366A-43EC-92DE-68681B767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IN" b="1" dirty="0"/>
              <a:t>Admin Generate Reports 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E851D8-09EB-4E7A-A15A-F2D080A946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345" y="130945"/>
            <a:ext cx="4308863" cy="6596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48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B8C-8AAA-4D57-8C1D-8FFE34CF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Data Dictionary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298644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356"/>
            <a:ext cx="10515600" cy="515842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Users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44C70-76BF-4AF1-8B8E-355CC727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855419"/>
              </p:ext>
            </p:extLst>
          </p:nvPr>
        </p:nvGraphicFramePr>
        <p:xfrm>
          <a:off x="698451" y="2029343"/>
          <a:ext cx="10735987" cy="45628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7633">
                  <a:extLst>
                    <a:ext uri="{9D8B030D-6E8A-4147-A177-3AD203B41FA5}">
                      <a16:colId xmlns:a16="http://schemas.microsoft.com/office/drawing/2014/main" val="2778092220"/>
                    </a:ext>
                  </a:extLst>
                </a:gridCol>
                <a:gridCol w="1554971">
                  <a:extLst>
                    <a:ext uri="{9D8B030D-6E8A-4147-A177-3AD203B41FA5}">
                      <a16:colId xmlns:a16="http://schemas.microsoft.com/office/drawing/2014/main" val="3356156405"/>
                    </a:ext>
                  </a:extLst>
                </a:gridCol>
                <a:gridCol w="936355">
                  <a:extLst>
                    <a:ext uri="{9D8B030D-6E8A-4147-A177-3AD203B41FA5}">
                      <a16:colId xmlns:a16="http://schemas.microsoft.com/office/drawing/2014/main" val="2494357302"/>
                    </a:ext>
                  </a:extLst>
                </a:gridCol>
                <a:gridCol w="3568823">
                  <a:extLst>
                    <a:ext uri="{9D8B030D-6E8A-4147-A177-3AD203B41FA5}">
                      <a16:colId xmlns:a16="http://schemas.microsoft.com/office/drawing/2014/main" val="272423661"/>
                    </a:ext>
                  </a:extLst>
                </a:gridCol>
                <a:gridCol w="3178205">
                  <a:extLst>
                    <a:ext uri="{9D8B030D-6E8A-4147-A177-3AD203B41FA5}">
                      <a16:colId xmlns:a16="http://schemas.microsoft.com/office/drawing/2014/main" val="2712651757"/>
                    </a:ext>
                  </a:extLst>
                </a:gridCol>
              </a:tblGrid>
              <a:tr h="3185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9916845"/>
                  </a:ext>
                </a:extLst>
              </a:tr>
              <a:tr h="285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PRIMARY KEY,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user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48986"/>
                  </a:ext>
                </a:extLst>
              </a:tr>
              <a:tr h="2851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User's full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056419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Email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User's email 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40333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Phone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User's phone number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6101449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password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 password Max size is 20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696154"/>
                  </a:ext>
                </a:extLst>
              </a:tr>
              <a:tr h="1210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Two type of Users :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 = Equipment owner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 = Farmer 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= Admin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4316957"/>
                  </a:ext>
                </a:extLst>
              </a:tr>
              <a:tr h="9857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NOT NULL, DEFAULT 'A'</a:t>
                      </a:r>
                      <a:endParaRPr lang="en-IN" sz="1800" b="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Account status:</a:t>
                      </a: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 = Active</a:t>
                      </a: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 = Inactive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79568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143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71447" cy="48681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2.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User Address Table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B2AED9-53D6-490D-9911-F1E02E6A0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2736615"/>
              </p:ext>
            </p:extLst>
          </p:nvPr>
        </p:nvGraphicFramePr>
        <p:xfrm>
          <a:off x="1118999" y="2352873"/>
          <a:ext cx="10224000" cy="4140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6643">
                  <a:extLst>
                    <a:ext uri="{9D8B030D-6E8A-4147-A177-3AD203B41FA5}">
                      <a16:colId xmlns:a16="http://schemas.microsoft.com/office/drawing/2014/main" val="3202713036"/>
                    </a:ext>
                  </a:extLst>
                </a:gridCol>
                <a:gridCol w="1481006">
                  <a:extLst>
                    <a:ext uri="{9D8B030D-6E8A-4147-A177-3AD203B41FA5}">
                      <a16:colId xmlns:a16="http://schemas.microsoft.com/office/drawing/2014/main" val="3662127096"/>
                    </a:ext>
                  </a:extLst>
                </a:gridCol>
                <a:gridCol w="1126274">
                  <a:extLst>
                    <a:ext uri="{9D8B030D-6E8A-4147-A177-3AD203B41FA5}">
                      <a16:colId xmlns:a16="http://schemas.microsoft.com/office/drawing/2014/main" val="2221259717"/>
                    </a:ext>
                  </a:extLst>
                </a:gridCol>
                <a:gridCol w="2837857">
                  <a:extLst>
                    <a:ext uri="{9D8B030D-6E8A-4147-A177-3AD203B41FA5}">
                      <a16:colId xmlns:a16="http://schemas.microsoft.com/office/drawing/2014/main" val="1109371913"/>
                    </a:ext>
                  </a:extLst>
                </a:gridCol>
                <a:gridCol w="3032220">
                  <a:extLst>
                    <a:ext uri="{9D8B030D-6E8A-4147-A177-3AD203B41FA5}">
                      <a16:colId xmlns:a16="http://schemas.microsoft.com/office/drawing/2014/main" val="1051256951"/>
                    </a:ext>
                  </a:extLst>
                </a:gridCol>
              </a:tblGrid>
              <a:tr h="45713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65829928"/>
                  </a:ext>
                </a:extLst>
              </a:tr>
              <a:tr h="72603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address_id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address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54713220"/>
                  </a:ext>
                </a:extLst>
              </a:tr>
              <a:tr h="7182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93810001"/>
                  </a:ext>
                </a:extLst>
              </a:tr>
              <a:tr h="5821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Complete street 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4061849"/>
                  </a:ext>
                </a:extLst>
              </a:tr>
              <a:tr h="5445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City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3411153"/>
                  </a:ext>
                </a:extLst>
              </a:tr>
              <a:tr h="5512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State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4191398"/>
                  </a:ext>
                </a:extLst>
              </a:tr>
              <a:tr h="5606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Pin_code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Postal PIN code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21089878"/>
                  </a:ext>
                </a:extLst>
              </a:tr>
            </a:tbl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76A59AB-E7DE-409F-92EC-D61181EC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3442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3. Subscription Plans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D113C30-AEA8-44C7-9B3E-C3A07446D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714686"/>
              </p:ext>
            </p:extLst>
          </p:nvPr>
        </p:nvGraphicFramePr>
        <p:xfrm>
          <a:off x="838200" y="2273300"/>
          <a:ext cx="10234800" cy="45394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7920">
                  <a:extLst>
                    <a:ext uri="{9D8B030D-6E8A-4147-A177-3AD203B41FA5}">
                      <a16:colId xmlns:a16="http://schemas.microsoft.com/office/drawing/2014/main" val="4136090926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508185624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4240183601"/>
                    </a:ext>
                  </a:extLst>
                </a:gridCol>
                <a:gridCol w="2157984">
                  <a:extLst>
                    <a:ext uri="{9D8B030D-6E8A-4147-A177-3AD203B41FA5}">
                      <a16:colId xmlns:a16="http://schemas.microsoft.com/office/drawing/2014/main" val="1772868571"/>
                    </a:ext>
                  </a:extLst>
                </a:gridCol>
                <a:gridCol w="2788536">
                  <a:extLst>
                    <a:ext uri="{9D8B030D-6E8A-4147-A177-3AD203B41FA5}">
                      <a16:colId xmlns:a16="http://schemas.microsoft.com/office/drawing/2014/main" val="3604039039"/>
                    </a:ext>
                  </a:extLst>
                </a:gridCol>
              </a:tblGrid>
              <a:tr h="7124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5553216"/>
                  </a:ext>
                </a:extLst>
              </a:tr>
              <a:tr h="5041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PRIMARY KEY,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plan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1477898"/>
                  </a:ext>
                </a:extLst>
              </a:tr>
              <a:tr h="6023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Plan_name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Subscription plan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369248"/>
                  </a:ext>
                </a:extLst>
              </a:tr>
              <a:tr h="10356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Plan_type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Plan duration type:</a:t>
                      </a: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 = Monthly</a:t>
                      </a: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Y = Yearly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70325425"/>
                  </a:ext>
                </a:extLst>
              </a:tr>
              <a:tr h="90053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user_type</a:t>
                      </a:r>
                      <a:endParaRPr lang="en-IN" sz="18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NOT NULL, CHECK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 type:</a:t>
                      </a: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 = Farmer</a:t>
                      </a:r>
                      <a:b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 = Equipment Owner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7660958"/>
                  </a:ext>
                </a:extLst>
              </a:tr>
              <a:tr h="6654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Subscription 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12498185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36B5D2E-F34E-494A-8B6B-19968D83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668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49" y="1614780"/>
            <a:ext cx="10776751" cy="524322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4. User Subscriptions Table</a:t>
            </a: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A1A2A7-05FE-44B6-9114-E77541A46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447282"/>
              </p:ext>
            </p:extLst>
          </p:nvPr>
        </p:nvGraphicFramePr>
        <p:xfrm>
          <a:off x="723530" y="2134207"/>
          <a:ext cx="10515600" cy="4590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31256">
                  <a:extLst>
                    <a:ext uri="{9D8B030D-6E8A-4147-A177-3AD203B41FA5}">
                      <a16:colId xmlns:a16="http://schemas.microsoft.com/office/drawing/2014/main" val="485408007"/>
                    </a:ext>
                  </a:extLst>
                </a:gridCol>
                <a:gridCol w="1386428">
                  <a:extLst>
                    <a:ext uri="{9D8B030D-6E8A-4147-A177-3AD203B41FA5}">
                      <a16:colId xmlns:a16="http://schemas.microsoft.com/office/drawing/2014/main" val="919036062"/>
                    </a:ext>
                  </a:extLst>
                </a:gridCol>
                <a:gridCol w="994215">
                  <a:extLst>
                    <a:ext uri="{9D8B030D-6E8A-4147-A177-3AD203B41FA5}">
                      <a16:colId xmlns:a16="http://schemas.microsoft.com/office/drawing/2014/main" val="3509736360"/>
                    </a:ext>
                  </a:extLst>
                </a:gridCol>
                <a:gridCol w="3438706">
                  <a:extLst>
                    <a:ext uri="{9D8B030D-6E8A-4147-A177-3AD203B41FA5}">
                      <a16:colId xmlns:a16="http://schemas.microsoft.com/office/drawing/2014/main" val="664857271"/>
                    </a:ext>
                  </a:extLst>
                </a:gridCol>
                <a:gridCol w="2864995">
                  <a:extLst>
                    <a:ext uri="{9D8B030D-6E8A-4147-A177-3AD203B41FA5}">
                      <a16:colId xmlns:a16="http://schemas.microsoft.com/office/drawing/2014/main" val="524457953"/>
                    </a:ext>
                  </a:extLst>
                </a:gridCol>
              </a:tblGrid>
              <a:tr h="45931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1472118"/>
                  </a:ext>
                </a:extLst>
              </a:tr>
              <a:tr h="5639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subscription_id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subscription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5618955"/>
                  </a:ext>
                </a:extLst>
              </a:tr>
              <a:tr h="5639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user_id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01298314"/>
                  </a:ext>
                </a:extLst>
              </a:tr>
              <a:tr h="7561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Subscription_Plans(plan_id)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43687"/>
                  </a:ext>
                </a:extLst>
              </a:tr>
              <a:tr h="371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Subscription start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0864024"/>
                  </a:ext>
                </a:extLst>
              </a:tr>
              <a:tr h="371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Subscription end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4307408"/>
                  </a:ext>
                </a:extLst>
              </a:tr>
              <a:tr h="114034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DEFAULT 'P'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Subscription status:</a:t>
                      </a:r>
                      <a:b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= Pending</a:t>
                      </a:r>
                      <a:b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= Active</a:t>
                      </a:r>
                      <a:b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 = Expired</a:t>
                      </a:r>
                      <a:b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</a:br>
                      <a:r>
                        <a:rPr lang="en-US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= Cancelled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008646565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C6EECBAB-B5A5-418B-9D5D-B6B40317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1528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1379598"/>
            <a:ext cx="11620869" cy="547840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5.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Payments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B7FAED-6AF1-4C47-8A57-7E33C8E7D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053129"/>
              </p:ext>
            </p:extLst>
          </p:nvPr>
        </p:nvGraphicFramePr>
        <p:xfrm>
          <a:off x="461639" y="1886853"/>
          <a:ext cx="11336784" cy="4837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17577">
                  <a:extLst>
                    <a:ext uri="{9D8B030D-6E8A-4147-A177-3AD203B41FA5}">
                      <a16:colId xmlns:a16="http://schemas.microsoft.com/office/drawing/2014/main" val="2591682496"/>
                    </a:ext>
                  </a:extLst>
                </a:gridCol>
                <a:gridCol w="1278384">
                  <a:extLst>
                    <a:ext uri="{9D8B030D-6E8A-4147-A177-3AD203B41FA5}">
                      <a16:colId xmlns:a16="http://schemas.microsoft.com/office/drawing/2014/main" val="4280515516"/>
                    </a:ext>
                  </a:extLst>
                </a:gridCol>
                <a:gridCol w="861134">
                  <a:extLst>
                    <a:ext uri="{9D8B030D-6E8A-4147-A177-3AD203B41FA5}">
                      <a16:colId xmlns:a16="http://schemas.microsoft.com/office/drawing/2014/main" val="3005160839"/>
                    </a:ext>
                  </a:extLst>
                </a:gridCol>
                <a:gridCol w="3515557">
                  <a:extLst>
                    <a:ext uri="{9D8B030D-6E8A-4147-A177-3AD203B41FA5}">
                      <a16:colId xmlns:a16="http://schemas.microsoft.com/office/drawing/2014/main" val="4131424856"/>
                    </a:ext>
                  </a:extLst>
                </a:gridCol>
                <a:gridCol w="3764132">
                  <a:extLst>
                    <a:ext uri="{9D8B030D-6E8A-4147-A177-3AD203B41FA5}">
                      <a16:colId xmlns:a16="http://schemas.microsoft.com/office/drawing/2014/main" val="2359409412"/>
                    </a:ext>
                  </a:extLst>
                </a:gridCol>
              </a:tblGrid>
              <a:tr h="3609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9398375"/>
                  </a:ext>
                </a:extLst>
              </a:tr>
              <a:tr h="4153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Payment_id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PRIMARY KEY, AUTO_INCREMENT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payment identifier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652410731"/>
                  </a:ext>
                </a:extLst>
              </a:tr>
              <a:tr h="5892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Subscription_id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User_Subscriptions(subscription_id)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1450835"/>
                  </a:ext>
                </a:extLst>
              </a:tr>
              <a:tr h="4153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Payment 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077756"/>
                  </a:ext>
                </a:extLst>
              </a:tr>
              <a:tr h="4153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transaction_id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Payment transaction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6256327"/>
                  </a:ext>
                </a:extLst>
              </a:tr>
              <a:tr h="5892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UPI_transaction_id</a:t>
                      </a:r>
                      <a:endParaRPr lang="en-IN" sz="18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12-digit UPI transaction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87781515"/>
                  </a:ext>
                </a:extLst>
              </a:tr>
              <a:tr h="145265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NOT NULL, DEFAULT 'P'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Payment status: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 = pending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 = completed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 = failed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0696269"/>
                  </a:ext>
                </a:extLst>
              </a:tr>
              <a:tr h="56968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payment_date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DATETIME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DEFAULT CURRENT_TIMESTAMP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Payment date and 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7152988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23039AB8-8AE5-4D42-8B08-B337C194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8445" y="163512"/>
            <a:ext cx="10515600" cy="13255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7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6. Equipment_Categories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2557EC-E8D7-4E43-8683-AA2B10792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71639"/>
              </p:ext>
            </p:extLst>
          </p:nvPr>
        </p:nvGraphicFramePr>
        <p:xfrm>
          <a:off x="978600" y="2618914"/>
          <a:ext cx="10234799" cy="3353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40313">
                  <a:extLst>
                    <a:ext uri="{9D8B030D-6E8A-4147-A177-3AD203B41FA5}">
                      <a16:colId xmlns:a16="http://schemas.microsoft.com/office/drawing/2014/main" val="1631271916"/>
                    </a:ext>
                  </a:extLst>
                </a:gridCol>
                <a:gridCol w="1420427">
                  <a:extLst>
                    <a:ext uri="{9D8B030D-6E8A-4147-A177-3AD203B41FA5}">
                      <a16:colId xmlns:a16="http://schemas.microsoft.com/office/drawing/2014/main" val="2892091056"/>
                    </a:ext>
                  </a:extLst>
                </a:gridCol>
                <a:gridCol w="1100831">
                  <a:extLst>
                    <a:ext uri="{9D8B030D-6E8A-4147-A177-3AD203B41FA5}">
                      <a16:colId xmlns:a16="http://schemas.microsoft.com/office/drawing/2014/main" val="4280673235"/>
                    </a:ext>
                  </a:extLst>
                </a:gridCol>
                <a:gridCol w="3062796">
                  <a:extLst>
                    <a:ext uri="{9D8B030D-6E8A-4147-A177-3AD203B41FA5}">
                      <a16:colId xmlns:a16="http://schemas.microsoft.com/office/drawing/2014/main" val="2291680035"/>
                    </a:ext>
                  </a:extLst>
                </a:gridCol>
                <a:gridCol w="3010432">
                  <a:extLst>
                    <a:ext uri="{9D8B030D-6E8A-4147-A177-3AD203B41FA5}">
                      <a16:colId xmlns:a16="http://schemas.microsoft.com/office/drawing/2014/main" val="2517205907"/>
                    </a:ext>
                  </a:extLst>
                </a:gridCol>
              </a:tblGrid>
              <a:tr h="68351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5198934"/>
                  </a:ext>
                </a:extLst>
              </a:tr>
              <a:tr h="7425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category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059616"/>
                  </a:ext>
                </a:extLst>
              </a:tr>
              <a:tr h="102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Equipment category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5780404"/>
                  </a:ext>
                </a:extLst>
              </a:tr>
              <a:tr h="9067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9200227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64003A1F-1D66-484C-81A0-1D85DC176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9851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659" y="1825624"/>
            <a:ext cx="11105965" cy="479711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7. Equipment_Subcategories </a:t>
            </a:r>
            <a:r>
              <a:rPr lang="en-US" b="1" dirty="0"/>
              <a:t>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C3FA6C-8F2B-4C69-8140-CB5DE591E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882035"/>
              </p:ext>
            </p:extLst>
          </p:nvPr>
        </p:nvGraphicFramePr>
        <p:xfrm>
          <a:off x="799728" y="2444340"/>
          <a:ext cx="10554072" cy="36216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0570">
                  <a:extLst>
                    <a:ext uri="{9D8B030D-6E8A-4147-A177-3AD203B41FA5}">
                      <a16:colId xmlns:a16="http://schemas.microsoft.com/office/drawing/2014/main" val="935704988"/>
                    </a:ext>
                  </a:extLst>
                </a:gridCol>
                <a:gridCol w="1399760">
                  <a:extLst>
                    <a:ext uri="{9D8B030D-6E8A-4147-A177-3AD203B41FA5}">
                      <a16:colId xmlns:a16="http://schemas.microsoft.com/office/drawing/2014/main" val="3250671802"/>
                    </a:ext>
                  </a:extLst>
                </a:gridCol>
                <a:gridCol w="958789">
                  <a:extLst>
                    <a:ext uri="{9D8B030D-6E8A-4147-A177-3AD203B41FA5}">
                      <a16:colId xmlns:a16="http://schemas.microsoft.com/office/drawing/2014/main" val="1800970444"/>
                    </a:ext>
                  </a:extLst>
                </a:gridCol>
                <a:gridCol w="2450236">
                  <a:extLst>
                    <a:ext uri="{9D8B030D-6E8A-4147-A177-3AD203B41FA5}">
                      <a16:colId xmlns:a16="http://schemas.microsoft.com/office/drawing/2014/main" val="3838637262"/>
                    </a:ext>
                  </a:extLst>
                </a:gridCol>
                <a:gridCol w="3594717">
                  <a:extLst>
                    <a:ext uri="{9D8B030D-6E8A-4147-A177-3AD203B41FA5}">
                      <a16:colId xmlns:a16="http://schemas.microsoft.com/office/drawing/2014/main" val="4074129725"/>
                    </a:ext>
                  </a:extLst>
                </a:gridCol>
              </a:tblGrid>
              <a:tr h="59608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4034329"/>
                  </a:ext>
                </a:extLst>
              </a:tr>
              <a:tr h="8302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Unique subcategory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98314339"/>
                  </a:ext>
                </a:extLst>
              </a:tr>
              <a:tr h="10031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dirty="0">
                          <a:effectLst/>
                        </a:rPr>
                        <a:t>FOREIGN KEY, NOT NULL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References Equipment_Categories(category_id)</a:t>
                      </a:r>
                      <a:endParaRPr lang="en-IN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844766078"/>
                  </a:ext>
                </a:extLst>
              </a:tr>
              <a:tr h="596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883620"/>
                  </a:ext>
                </a:extLst>
              </a:tr>
              <a:tr h="5960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Subcategory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2958069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58B9A5EE-6F67-4B7F-B3B4-19D9BCAE0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6707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5" y="1523784"/>
            <a:ext cx="11061577" cy="524987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8. Equipment Table</a:t>
            </a: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8C2558-F070-4E3D-AA1F-84CA09E8D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084891"/>
              </p:ext>
            </p:extLst>
          </p:nvPr>
        </p:nvGraphicFramePr>
        <p:xfrm>
          <a:off x="615518" y="2055813"/>
          <a:ext cx="10960965" cy="4208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6070">
                  <a:extLst>
                    <a:ext uri="{9D8B030D-6E8A-4147-A177-3AD203B41FA5}">
                      <a16:colId xmlns:a16="http://schemas.microsoft.com/office/drawing/2014/main" val="3134714416"/>
                    </a:ext>
                  </a:extLst>
                </a:gridCol>
                <a:gridCol w="1253335">
                  <a:extLst>
                    <a:ext uri="{9D8B030D-6E8A-4147-A177-3AD203B41FA5}">
                      <a16:colId xmlns:a16="http://schemas.microsoft.com/office/drawing/2014/main" val="2281451683"/>
                    </a:ext>
                  </a:extLst>
                </a:gridCol>
                <a:gridCol w="740294">
                  <a:extLst>
                    <a:ext uri="{9D8B030D-6E8A-4147-A177-3AD203B41FA5}">
                      <a16:colId xmlns:a16="http://schemas.microsoft.com/office/drawing/2014/main" val="1124982581"/>
                    </a:ext>
                  </a:extLst>
                </a:gridCol>
                <a:gridCol w="2646818">
                  <a:extLst>
                    <a:ext uri="{9D8B030D-6E8A-4147-A177-3AD203B41FA5}">
                      <a16:colId xmlns:a16="http://schemas.microsoft.com/office/drawing/2014/main" val="1141269546"/>
                    </a:ext>
                  </a:extLst>
                </a:gridCol>
                <a:gridCol w="4394448">
                  <a:extLst>
                    <a:ext uri="{9D8B030D-6E8A-4147-A177-3AD203B41FA5}">
                      <a16:colId xmlns:a16="http://schemas.microsoft.com/office/drawing/2014/main" val="3140193666"/>
                    </a:ext>
                  </a:extLst>
                </a:gridCol>
              </a:tblGrid>
              <a:tr h="59390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78393325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equipment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88901833"/>
                  </a:ext>
                </a:extLst>
              </a:tr>
              <a:tr h="6523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Owner_id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7740969"/>
                  </a:ext>
                </a:extLst>
              </a:tr>
              <a:tr h="7976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Subcategories_id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Equipment_Subcategories(Subcategory_id)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13122219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title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192514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Brand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Manufacturer brand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85968395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Model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Equipment model number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7193522"/>
                  </a:ext>
                </a:extLst>
              </a:tr>
              <a:tr h="3901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Manufacturing year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9967837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ACED962D-530F-48E3-8652-EF6425598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8980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169" y="1696391"/>
            <a:ext cx="11345662" cy="489477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Equipment Table (Conti..)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6DD6AD-C77F-4A9D-9D76-48499C26E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420082"/>
              </p:ext>
            </p:extLst>
          </p:nvPr>
        </p:nvGraphicFramePr>
        <p:xfrm>
          <a:off x="1189608" y="2283420"/>
          <a:ext cx="10301351" cy="44035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7438">
                  <a:extLst>
                    <a:ext uri="{9D8B030D-6E8A-4147-A177-3AD203B41FA5}">
                      <a16:colId xmlns:a16="http://schemas.microsoft.com/office/drawing/2014/main" val="2208766144"/>
                    </a:ext>
                  </a:extLst>
                </a:gridCol>
                <a:gridCol w="1610676">
                  <a:extLst>
                    <a:ext uri="{9D8B030D-6E8A-4147-A177-3AD203B41FA5}">
                      <a16:colId xmlns:a16="http://schemas.microsoft.com/office/drawing/2014/main" val="3251103842"/>
                    </a:ext>
                  </a:extLst>
                </a:gridCol>
                <a:gridCol w="1019838">
                  <a:extLst>
                    <a:ext uri="{9D8B030D-6E8A-4147-A177-3AD203B41FA5}">
                      <a16:colId xmlns:a16="http://schemas.microsoft.com/office/drawing/2014/main" val="2492939391"/>
                    </a:ext>
                  </a:extLst>
                </a:gridCol>
                <a:gridCol w="2487026">
                  <a:extLst>
                    <a:ext uri="{9D8B030D-6E8A-4147-A177-3AD203B41FA5}">
                      <a16:colId xmlns:a16="http://schemas.microsoft.com/office/drawing/2014/main" val="2301563927"/>
                    </a:ext>
                  </a:extLst>
                </a:gridCol>
                <a:gridCol w="3156373">
                  <a:extLst>
                    <a:ext uri="{9D8B030D-6E8A-4147-A177-3AD203B41FA5}">
                      <a16:colId xmlns:a16="http://schemas.microsoft.com/office/drawing/2014/main" val="2950033961"/>
                    </a:ext>
                  </a:extLst>
                </a:gridCol>
              </a:tblGrid>
              <a:tr h="41002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29750324"/>
                  </a:ext>
                </a:extLst>
              </a:tr>
              <a:tr h="410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Detailed equipment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80460745"/>
                  </a:ext>
                </a:extLst>
              </a:tr>
              <a:tr h="410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Hourly_rate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NOT NULL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Hourly rental 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8068419"/>
                  </a:ext>
                </a:extLst>
              </a:tr>
              <a:tr h="4100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Daily_rate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NOT NULL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Daily rental rate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14367604"/>
                  </a:ext>
                </a:extLst>
              </a:tr>
              <a:tr h="8745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listed_date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DATETIME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DEFAULT CURRENT_TIMESTAMP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Equipment listing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09902412"/>
                  </a:ext>
                </a:extLst>
              </a:tr>
              <a:tr h="16947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Approval_status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DEFAULT 'PEN'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 approval Status: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PEN = pending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CON= confirmed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REJ = Rejected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712996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771CC91B-E665-435A-81F6-171A4E11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7884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213" y="1579270"/>
            <a:ext cx="10515600" cy="515000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9. Equipment and Product Images Table</a:t>
            </a: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ED29C-8951-4900-98A0-7FBE135B0C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564296"/>
              </p:ext>
            </p:extLst>
          </p:nvPr>
        </p:nvGraphicFramePr>
        <p:xfrm>
          <a:off x="925187" y="2273300"/>
          <a:ext cx="9928287" cy="42422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1380">
                  <a:extLst>
                    <a:ext uri="{9D8B030D-6E8A-4147-A177-3AD203B41FA5}">
                      <a16:colId xmlns:a16="http://schemas.microsoft.com/office/drawing/2014/main" val="1041266907"/>
                    </a:ext>
                  </a:extLst>
                </a:gridCol>
                <a:gridCol w="1509204">
                  <a:extLst>
                    <a:ext uri="{9D8B030D-6E8A-4147-A177-3AD203B41FA5}">
                      <a16:colId xmlns:a16="http://schemas.microsoft.com/office/drawing/2014/main" val="4057825740"/>
                    </a:ext>
                  </a:extLst>
                </a:gridCol>
                <a:gridCol w="1171852">
                  <a:extLst>
                    <a:ext uri="{9D8B030D-6E8A-4147-A177-3AD203B41FA5}">
                      <a16:colId xmlns:a16="http://schemas.microsoft.com/office/drawing/2014/main" val="2566949845"/>
                    </a:ext>
                  </a:extLst>
                </a:gridCol>
                <a:gridCol w="2534887">
                  <a:extLst>
                    <a:ext uri="{9D8B030D-6E8A-4147-A177-3AD203B41FA5}">
                      <a16:colId xmlns:a16="http://schemas.microsoft.com/office/drawing/2014/main" val="3047698429"/>
                    </a:ext>
                  </a:extLst>
                </a:gridCol>
                <a:gridCol w="2920964">
                  <a:extLst>
                    <a:ext uri="{9D8B030D-6E8A-4147-A177-3AD203B41FA5}">
                      <a16:colId xmlns:a16="http://schemas.microsoft.com/office/drawing/2014/main" val="2497113604"/>
                    </a:ext>
                  </a:extLst>
                </a:gridCol>
              </a:tblGrid>
              <a:tr h="6589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1407206"/>
                  </a:ext>
                </a:extLst>
              </a:tr>
              <a:tr h="80582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image_id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image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23806233"/>
                  </a:ext>
                </a:extLst>
              </a:tr>
              <a:tr h="808577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image_type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Image type: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 = </a:t>
                      </a:r>
                      <a:r>
                        <a:rPr lang="en-IN" sz="1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42051531"/>
                  </a:ext>
                </a:extLst>
              </a:tr>
              <a:tr h="805822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Product_id or Equipment_id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02629113"/>
                  </a:ext>
                </a:extLst>
              </a:tr>
              <a:tr h="5489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image_url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255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Image file storage path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3140611"/>
                  </a:ext>
                </a:extLst>
              </a:tr>
              <a:tr h="5489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upload_date</a:t>
                      </a:r>
                      <a:endParaRPr lang="en-IN" sz="18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DATETIME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CURRENT_TIMESTAMP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Image upload date and 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2549804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56495CCA-4321-450D-B289-4F2289E2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156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139" y="2034527"/>
            <a:ext cx="11219895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10. Equipment_Bookings Table</a:t>
            </a: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6222DA-93E6-4DBC-94D1-B649FB24A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4631084"/>
              </p:ext>
            </p:extLst>
          </p:nvPr>
        </p:nvGraphicFramePr>
        <p:xfrm>
          <a:off x="534140" y="2623983"/>
          <a:ext cx="11123720" cy="34749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7094">
                  <a:extLst>
                    <a:ext uri="{9D8B030D-6E8A-4147-A177-3AD203B41FA5}">
                      <a16:colId xmlns:a16="http://schemas.microsoft.com/office/drawing/2014/main" val="2083151219"/>
                    </a:ext>
                  </a:extLst>
                </a:gridCol>
                <a:gridCol w="1762007">
                  <a:extLst>
                    <a:ext uri="{9D8B030D-6E8A-4147-A177-3AD203B41FA5}">
                      <a16:colId xmlns:a16="http://schemas.microsoft.com/office/drawing/2014/main" val="842911875"/>
                    </a:ext>
                  </a:extLst>
                </a:gridCol>
                <a:gridCol w="1028589">
                  <a:extLst>
                    <a:ext uri="{9D8B030D-6E8A-4147-A177-3AD203B41FA5}">
                      <a16:colId xmlns:a16="http://schemas.microsoft.com/office/drawing/2014/main" val="162103757"/>
                    </a:ext>
                  </a:extLst>
                </a:gridCol>
                <a:gridCol w="2804776">
                  <a:extLst>
                    <a:ext uri="{9D8B030D-6E8A-4147-A177-3AD203B41FA5}">
                      <a16:colId xmlns:a16="http://schemas.microsoft.com/office/drawing/2014/main" val="2861380458"/>
                    </a:ext>
                  </a:extLst>
                </a:gridCol>
                <a:gridCol w="3391254">
                  <a:extLst>
                    <a:ext uri="{9D8B030D-6E8A-4147-A177-3AD203B41FA5}">
                      <a16:colId xmlns:a16="http://schemas.microsoft.com/office/drawing/2014/main" val="57943791"/>
                    </a:ext>
                  </a:extLst>
                </a:gridCol>
              </a:tblGrid>
              <a:tr h="48228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7747282"/>
                  </a:ext>
                </a:extLst>
              </a:tr>
              <a:tr h="7625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booking_id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booking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0622647"/>
                  </a:ext>
                </a:extLst>
              </a:tr>
              <a:tr h="7625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equipment_id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Equipment(Equipment_id)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04927270"/>
                  </a:ext>
                </a:extLst>
              </a:tr>
              <a:tr h="7303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customer_id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200380"/>
                  </a:ext>
                </a:extLst>
              </a:tr>
              <a:tr h="3685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start_date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Rental start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0817116"/>
                  </a:ext>
                </a:extLst>
              </a:tr>
              <a:tr h="3685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Rental end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94708235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E3A4E5FB-26F1-4CAB-BF3A-766481DC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316"/>
            <a:ext cx="10515600" cy="1325563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04151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964" y="1825625"/>
            <a:ext cx="11511380" cy="459293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Equipment_Bookings Table (conti…)</a:t>
            </a:r>
          </a:p>
          <a:p>
            <a:pPr marL="0" indent="0">
              <a:buNone/>
            </a:pP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76222DA-93E6-4DBC-94D1-B649FB24A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579049"/>
              </p:ext>
            </p:extLst>
          </p:nvPr>
        </p:nvGraphicFramePr>
        <p:xfrm>
          <a:off x="630316" y="2445541"/>
          <a:ext cx="11123720" cy="37453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7094">
                  <a:extLst>
                    <a:ext uri="{9D8B030D-6E8A-4147-A177-3AD203B41FA5}">
                      <a16:colId xmlns:a16="http://schemas.microsoft.com/office/drawing/2014/main" val="2083151219"/>
                    </a:ext>
                  </a:extLst>
                </a:gridCol>
                <a:gridCol w="1762007">
                  <a:extLst>
                    <a:ext uri="{9D8B030D-6E8A-4147-A177-3AD203B41FA5}">
                      <a16:colId xmlns:a16="http://schemas.microsoft.com/office/drawing/2014/main" val="842911875"/>
                    </a:ext>
                  </a:extLst>
                </a:gridCol>
                <a:gridCol w="1028589">
                  <a:extLst>
                    <a:ext uri="{9D8B030D-6E8A-4147-A177-3AD203B41FA5}">
                      <a16:colId xmlns:a16="http://schemas.microsoft.com/office/drawing/2014/main" val="162103757"/>
                    </a:ext>
                  </a:extLst>
                </a:gridCol>
                <a:gridCol w="2804776">
                  <a:extLst>
                    <a:ext uri="{9D8B030D-6E8A-4147-A177-3AD203B41FA5}">
                      <a16:colId xmlns:a16="http://schemas.microsoft.com/office/drawing/2014/main" val="2861380458"/>
                    </a:ext>
                  </a:extLst>
                </a:gridCol>
                <a:gridCol w="3391254">
                  <a:extLst>
                    <a:ext uri="{9D8B030D-6E8A-4147-A177-3AD203B41FA5}">
                      <a16:colId xmlns:a16="http://schemas.microsoft.com/office/drawing/2014/main" val="57943791"/>
                    </a:ext>
                  </a:extLst>
                </a:gridCol>
              </a:tblGrid>
              <a:tr h="4397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47747282"/>
                  </a:ext>
                </a:extLst>
              </a:tr>
              <a:tr h="426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Hours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Total rental hours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1677678"/>
                  </a:ext>
                </a:extLst>
              </a:tr>
              <a:tr h="4438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total_amount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Calculated total rental cost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2359793"/>
                  </a:ext>
                </a:extLst>
              </a:tr>
              <a:tr h="17495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DEFAULT 'PEN'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Booking status: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PEN = pending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CON= confirmed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REJ = Rejected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5770126"/>
                  </a:ext>
                </a:extLst>
              </a:tr>
              <a:tr h="6861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time_slot</a:t>
                      </a:r>
                      <a:endParaRPr lang="en-IN" sz="18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Selected time slot (e.g., 8AM - 8PM)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29692606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E3A4E5FB-26F1-4CAB-BF3A-766481DC3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457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782670" cy="4841505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11. Product_categories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9D695F-D53C-4870-BCF0-F8E519BD3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070341"/>
              </p:ext>
            </p:extLst>
          </p:nvPr>
        </p:nvGraphicFramePr>
        <p:xfrm>
          <a:off x="1015999" y="2363788"/>
          <a:ext cx="10337801" cy="4009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2688190483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402540773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3233237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1576109394"/>
                    </a:ext>
                  </a:extLst>
                </a:gridCol>
                <a:gridCol w="3154681">
                  <a:extLst>
                    <a:ext uri="{9D8B030D-6E8A-4147-A177-3AD203B41FA5}">
                      <a16:colId xmlns:a16="http://schemas.microsoft.com/office/drawing/2014/main" val="2564474234"/>
                    </a:ext>
                  </a:extLst>
                </a:gridCol>
              </a:tblGrid>
              <a:tr h="7700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2372634976"/>
                  </a:ext>
                </a:extLst>
              </a:tr>
              <a:tr h="1179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Unique product category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748886159"/>
                  </a:ext>
                </a:extLst>
              </a:tr>
              <a:tr h="11798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NULL, UNIQUE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Product category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742709250"/>
                  </a:ext>
                </a:extLst>
              </a:tr>
              <a:tr h="8795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0" marR="76200" marT="86995" marB="86995" anchor="ctr"/>
                </a:tc>
                <a:extLst>
                  <a:ext uri="{0D108BD9-81ED-4DB2-BD59-A6C34878D82A}">
                    <a16:rowId xmlns:a16="http://schemas.microsoft.com/office/drawing/2014/main" val="4245470066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3BDDB244-3761-4A68-AD7F-476A90D1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4032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763" y="1825625"/>
            <a:ext cx="11271682" cy="487701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12. Product_Subcategories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5ECD65-84ED-45BE-A729-B9E52EC5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84570"/>
              </p:ext>
            </p:extLst>
          </p:nvPr>
        </p:nvGraphicFramePr>
        <p:xfrm>
          <a:off x="838199" y="2498725"/>
          <a:ext cx="10260816" cy="3960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53576">
                  <a:extLst>
                    <a:ext uri="{9D8B030D-6E8A-4147-A177-3AD203B41FA5}">
                      <a16:colId xmlns:a16="http://schemas.microsoft.com/office/drawing/2014/main" val="4056759365"/>
                    </a:ext>
                  </a:extLst>
                </a:gridCol>
                <a:gridCol w="1553421">
                  <a:extLst>
                    <a:ext uri="{9D8B030D-6E8A-4147-A177-3AD203B41FA5}">
                      <a16:colId xmlns:a16="http://schemas.microsoft.com/office/drawing/2014/main" val="2867457808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4114091778"/>
                    </a:ext>
                  </a:extLst>
                </a:gridCol>
                <a:gridCol w="2528857">
                  <a:extLst>
                    <a:ext uri="{9D8B030D-6E8A-4147-A177-3AD203B41FA5}">
                      <a16:colId xmlns:a16="http://schemas.microsoft.com/office/drawing/2014/main" val="2456423335"/>
                    </a:ext>
                  </a:extLst>
                </a:gridCol>
                <a:gridCol w="3417902">
                  <a:extLst>
                    <a:ext uri="{9D8B030D-6E8A-4147-A177-3AD203B41FA5}">
                      <a16:colId xmlns:a16="http://schemas.microsoft.com/office/drawing/2014/main" val="1743082239"/>
                    </a:ext>
                  </a:extLst>
                </a:gridCol>
              </a:tblGrid>
              <a:tr h="79655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12496964"/>
                  </a:ext>
                </a:extLst>
              </a:tr>
              <a:tr h="7090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subcategory 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3179507"/>
                  </a:ext>
                </a:extLst>
              </a:tr>
              <a:tr h="99087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Product_Categories(Category_id)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1633910"/>
                  </a:ext>
                </a:extLst>
              </a:tr>
              <a:tr h="7317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Subcategory_name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Product subcategory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17001995"/>
                  </a:ext>
                </a:extLst>
              </a:tr>
              <a:tr h="73177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Subcategory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61526906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D03D21E8-0811-4D62-A5A6-3070AD617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69037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474" y="1509204"/>
            <a:ext cx="11532093" cy="498367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  13. Product Table</a:t>
            </a: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E4F700-A4A7-4CBB-AF5F-40A890AD1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730058"/>
              </p:ext>
            </p:extLst>
          </p:nvPr>
        </p:nvGraphicFramePr>
        <p:xfrm>
          <a:off x="587702" y="2120277"/>
          <a:ext cx="10862617" cy="41388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3758">
                  <a:extLst>
                    <a:ext uri="{9D8B030D-6E8A-4147-A177-3AD203B41FA5}">
                      <a16:colId xmlns:a16="http://schemas.microsoft.com/office/drawing/2014/main" val="650216570"/>
                    </a:ext>
                  </a:extLst>
                </a:gridCol>
                <a:gridCol w="1305018">
                  <a:extLst>
                    <a:ext uri="{9D8B030D-6E8A-4147-A177-3AD203B41FA5}">
                      <a16:colId xmlns:a16="http://schemas.microsoft.com/office/drawing/2014/main" val="4197416180"/>
                    </a:ext>
                  </a:extLst>
                </a:gridCol>
                <a:gridCol w="941033">
                  <a:extLst>
                    <a:ext uri="{9D8B030D-6E8A-4147-A177-3AD203B41FA5}">
                      <a16:colId xmlns:a16="http://schemas.microsoft.com/office/drawing/2014/main" val="3547181521"/>
                    </a:ext>
                  </a:extLst>
                </a:gridCol>
                <a:gridCol w="2787588">
                  <a:extLst>
                    <a:ext uri="{9D8B030D-6E8A-4147-A177-3AD203B41FA5}">
                      <a16:colId xmlns:a16="http://schemas.microsoft.com/office/drawing/2014/main" val="567777627"/>
                    </a:ext>
                  </a:extLst>
                </a:gridCol>
                <a:gridCol w="4055220">
                  <a:extLst>
                    <a:ext uri="{9D8B030D-6E8A-4147-A177-3AD203B41FA5}">
                      <a16:colId xmlns:a16="http://schemas.microsoft.com/office/drawing/2014/main" val="3193263363"/>
                    </a:ext>
                  </a:extLst>
                </a:gridCol>
              </a:tblGrid>
              <a:tr h="60182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9977754"/>
                  </a:ext>
                </a:extLst>
              </a:tr>
              <a:tr h="42520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product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987741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seller_id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90722402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Subcategory_id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Product_Subcategories(Subcategory_id)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2767997"/>
                  </a:ext>
                </a:extLst>
              </a:tr>
              <a:tr h="6989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VARCHAR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 name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5582941"/>
                  </a:ext>
                </a:extLst>
              </a:tr>
              <a:tr h="33780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Product detailed 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48020672"/>
                  </a:ext>
                </a:extLst>
              </a:tr>
              <a:tr h="4984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Product price per unit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3118956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A7E7B35F-7441-4731-94B8-22ED4DC20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1965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61" y="1488273"/>
            <a:ext cx="11310152" cy="530314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Product </a:t>
            </a:r>
            <a:r>
              <a:rPr lang="en-US" b="1" dirty="0"/>
              <a:t>Table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(Conti…)</a:t>
            </a:r>
          </a:p>
          <a:p>
            <a:pPr marL="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6D7677-CC0A-47D6-AC33-1950A46B5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921353"/>
              </p:ext>
            </p:extLst>
          </p:nvPr>
        </p:nvGraphicFramePr>
        <p:xfrm>
          <a:off x="692458" y="1934656"/>
          <a:ext cx="10821881" cy="4758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19923">
                  <a:extLst>
                    <a:ext uri="{9D8B030D-6E8A-4147-A177-3AD203B41FA5}">
                      <a16:colId xmlns:a16="http://schemas.microsoft.com/office/drawing/2014/main" val="49639383"/>
                    </a:ext>
                  </a:extLst>
                </a:gridCol>
                <a:gridCol w="1376038">
                  <a:extLst>
                    <a:ext uri="{9D8B030D-6E8A-4147-A177-3AD203B41FA5}">
                      <a16:colId xmlns:a16="http://schemas.microsoft.com/office/drawing/2014/main" val="104783264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139682905"/>
                    </a:ext>
                  </a:extLst>
                </a:gridCol>
                <a:gridCol w="3533313">
                  <a:extLst>
                    <a:ext uri="{9D8B030D-6E8A-4147-A177-3AD203B41FA5}">
                      <a16:colId xmlns:a16="http://schemas.microsoft.com/office/drawing/2014/main" val="1527940165"/>
                    </a:ext>
                  </a:extLst>
                </a:gridCol>
                <a:gridCol w="3178207">
                  <a:extLst>
                    <a:ext uri="{9D8B030D-6E8A-4147-A177-3AD203B41FA5}">
                      <a16:colId xmlns:a16="http://schemas.microsoft.com/office/drawing/2014/main" val="833162652"/>
                    </a:ext>
                  </a:extLst>
                </a:gridCol>
              </a:tblGrid>
              <a:tr h="40413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3027719"/>
                  </a:ext>
                </a:extLst>
              </a:tr>
              <a:tr h="47011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Quantity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Available quantity in stock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49521586"/>
                  </a:ext>
                </a:extLst>
              </a:tr>
              <a:tr h="8689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Unit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Measurement unit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 = 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Kilogram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 = liter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7177235"/>
                  </a:ext>
                </a:extLst>
              </a:tr>
              <a:tr h="5448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listed_date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Listing 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8185508"/>
                  </a:ext>
                </a:extLst>
              </a:tr>
              <a:tr h="86891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address_id</a:t>
                      </a:r>
                      <a:endParaRPr lang="en-IN" sz="1800" b="1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User_Addresses(address_id)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546786"/>
                  </a:ext>
                </a:extLst>
              </a:tr>
              <a:tr h="14608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Approval_status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“PEN”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 approval Status: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PEN = pending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CON= confirmed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REJ = Rejected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08383028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6C830A8B-DEA5-4193-AB63-6BE95381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04559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128" y="1461641"/>
            <a:ext cx="11514337" cy="532977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 14. Product_Orders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3EA9-109D-42CA-83AA-29AC5952A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7812593"/>
              </p:ext>
            </p:extLst>
          </p:nvPr>
        </p:nvGraphicFramePr>
        <p:xfrm>
          <a:off x="639193" y="1976530"/>
          <a:ext cx="11168108" cy="47438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02196">
                  <a:extLst>
                    <a:ext uri="{9D8B030D-6E8A-4147-A177-3AD203B41FA5}">
                      <a16:colId xmlns:a16="http://schemas.microsoft.com/office/drawing/2014/main" val="1276119101"/>
                    </a:ext>
                  </a:extLst>
                </a:gridCol>
                <a:gridCol w="1393070">
                  <a:extLst>
                    <a:ext uri="{9D8B030D-6E8A-4147-A177-3AD203B41FA5}">
                      <a16:colId xmlns:a16="http://schemas.microsoft.com/office/drawing/2014/main" val="1624118314"/>
                    </a:ext>
                  </a:extLst>
                </a:gridCol>
                <a:gridCol w="909760">
                  <a:extLst>
                    <a:ext uri="{9D8B030D-6E8A-4147-A177-3AD203B41FA5}">
                      <a16:colId xmlns:a16="http://schemas.microsoft.com/office/drawing/2014/main" val="3967156932"/>
                    </a:ext>
                  </a:extLst>
                </a:gridCol>
                <a:gridCol w="3525321">
                  <a:extLst>
                    <a:ext uri="{9D8B030D-6E8A-4147-A177-3AD203B41FA5}">
                      <a16:colId xmlns:a16="http://schemas.microsoft.com/office/drawing/2014/main" val="525333292"/>
                    </a:ext>
                  </a:extLst>
                </a:gridCol>
                <a:gridCol w="3337761">
                  <a:extLst>
                    <a:ext uri="{9D8B030D-6E8A-4147-A177-3AD203B41FA5}">
                      <a16:colId xmlns:a16="http://schemas.microsoft.com/office/drawing/2014/main" val="4080187297"/>
                    </a:ext>
                  </a:extLst>
                </a:gridCol>
              </a:tblGrid>
              <a:tr h="5270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92960594"/>
                  </a:ext>
                </a:extLst>
              </a:tr>
              <a:tr h="3099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Order­­_id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PRIMARY KEY, AUTO_INCREMENT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order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5685942"/>
                  </a:ext>
                </a:extLst>
              </a:tr>
              <a:tr h="38405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FOREIGN KEY,  NOT NULL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Product(product_id)</a:t>
                      </a:r>
                      <a:endParaRPr lang="en-IN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997382093"/>
                  </a:ext>
                </a:extLst>
              </a:tr>
              <a:tr h="479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buyer_id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</a:t>
                      </a:r>
                      <a:r>
                        <a:rPr lang="en-IN" sz="1800" b="0" i="0" kern="1200" dirty="0" err="1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user_id</a:t>
                      </a: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19534997"/>
                  </a:ext>
                </a:extLst>
              </a:tr>
              <a:tr h="3099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quantity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Ordered quantity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13239150"/>
                  </a:ext>
                </a:extLst>
              </a:tr>
              <a:tr h="3099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total_price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DECIMAL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10,2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Calculated total price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79583062"/>
                  </a:ext>
                </a:extLst>
              </a:tr>
              <a:tr h="64116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delivery_address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FOREIGN KEY, NOT NULL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User_Addresses(address_id)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97787191"/>
                  </a:ext>
                </a:extLst>
              </a:tr>
              <a:tr h="130366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DEFAULT 'PEN'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 status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PEN = pending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 = Confirmed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CAN = cancelled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6514358"/>
                  </a:ext>
                </a:extLst>
              </a:tr>
              <a:tr h="47908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DEFAULT CURRENT_DATE/TIME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Order time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3484771"/>
                  </a:ext>
                </a:extLst>
              </a:tr>
            </a:tbl>
          </a:graphicData>
        </a:graphic>
      </p:graphicFrame>
      <p:sp>
        <p:nvSpPr>
          <p:cNvPr id="7" name="Title 6">
            <a:extLst>
              <a:ext uri="{FF2B5EF4-FFF2-40B4-BE49-F238E27FC236}">
                <a16:creationId xmlns:a16="http://schemas.microsoft.com/office/drawing/2014/main" id="{4270A926-5131-4E04-817D-E05A30CC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64068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293" y="1600199"/>
            <a:ext cx="11354540" cy="497815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16. Reviews Table</a:t>
            </a:r>
            <a:endParaRPr lang="en-IN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44C70-76BF-4AF1-8B8E-355CC727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754557"/>
              </p:ext>
            </p:extLst>
          </p:nvPr>
        </p:nvGraphicFramePr>
        <p:xfrm>
          <a:off x="767179" y="2171636"/>
          <a:ext cx="10927846" cy="432123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4702">
                  <a:extLst>
                    <a:ext uri="{9D8B030D-6E8A-4147-A177-3AD203B41FA5}">
                      <a16:colId xmlns:a16="http://schemas.microsoft.com/office/drawing/2014/main" val="2778092220"/>
                    </a:ext>
                  </a:extLst>
                </a:gridCol>
                <a:gridCol w="1325285">
                  <a:extLst>
                    <a:ext uri="{9D8B030D-6E8A-4147-A177-3AD203B41FA5}">
                      <a16:colId xmlns:a16="http://schemas.microsoft.com/office/drawing/2014/main" val="3356156405"/>
                    </a:ext>
                  </a:extLst>
                </a:gridCol>
                <a:gridCol w="886408">
                  <a:extLst>
                    <a:ext uri="{9D8B030D-6E8A-4147-A177-3AD203B41FA5}">
                      <a16:colId xmlns:a16="http://schemas.microsoft.com/office/drawing/2014/main" val="2494357302"/>
                    </a:ext>
                  </a:extLst>
                </a:gridCol>
                <a:gridCol w="3545777">
                  <a:extLst>
                    <a:ext uri="{9D8B030D-6E8A-4147-A177-3AD203B41FA5}">
                      <a16:colId xmlns:a16="http://schemas.microsoft.com/office/drawing/2014/main" val="272423661"/>
                    </a:ext>
                  </a:extLst>
                </a:gridCol>
                <a:gridCol w="3405674">
                  <a:extLst>
                    <a:ext uri="{9D8B030D-6E8A-4147-A177-3AD203B41FA5}">
                      <a16:colId xmlns:a16="http://schemas.microsoft.com/office/drawing/2014/main" val="2712651757"/>
                    </a:ext>
                  </a:extLst>
                </a:gridCol>
              </a:tblGrid>
              <a:tr h="36321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9916845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PRIMARY KEY, AUTO_INCREMENT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Unique review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48986"/>
                  </a:ext>
                </a:extLst>
              </a:tr>
              <a:tr h="26456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Reviewer_id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056419"/>
                  </a:ext>
                </a:extLst>
              </a:tr>
              <a:tr h="72738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Review_type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 type: E = </a:t>
                      </a:r>
                      <a:r>
                        <a:rPr lang="en-IN" sz="1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40333"/>
                  </a:ext>
                </a:extLst>
              </a:tr>
              <a:tr h="7062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Reference from Product ID or </a:t>
                      </a:r>
                      <a:b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6101449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Rating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NOT NULL, CHECK (1-5)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Rating value between 1 and 5 stars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696154"/>
                  </a:ext>
                </a:extLst>
              </a:tr>
              <a:tr h="43897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Review comment text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8977698"/>
                  </a:ext>
                </a:extLst>
              </a:tr>
              <a:tr h="80573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created_date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DATETIME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DEFAULT CURRENT_TIMESTAMP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Review creation date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24316957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0D9B9C4B-4C99-489A-BE38-73636F352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46002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38" y="1463858"/>
            <a:ext cx="11425561" cy="5394141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 17. Complaints </a:t>
            </a:r>
            <a:r>
              <a:rPr lang="en-US" b="1" dirty="0"/>
              <a:t>Table</a:t>
            </a: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044C70-76BF-4AF1-8B8E-355CC7274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633376"/>
              </p:ext>
            </p:extLst>
          </p:nvPr>
        </p:nvGraphicFramePr>
        <p:xfrm>
          <a:off x="527578" y="1988619"/>
          <a:ext cx="11012555" cy="468101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58347">
                  <a:extLst>
                    <a:ext uri="{9D8B030D-6E8A-4147-A177-3AD203B41FA5}">
                      <a16:colId xmlns:a16="http://schemas.microsoft.com/office/drawing/2014/main" val="2778092220"/>
                    </a:ext>
                  </a:extLst>
                </a:gridCol>
                <a:gridCol w="1296955">
                  <a:extLst>
                    <a:ext uri="{9D8B030D-6E8A-4147-A177-3AD203B41FA5}">
                      <a16:colId xmlns:a16="http://schemas.microsoft.com/office/drawing/2014/main" val="3356156405"/>
                    </a:ext>
                  </a:extLst>
                </a:gridCol>
                <a:gridCol w="961053">
                  <a:extLst>
                    <a:ext uri="{9D8B030D-6E8A-4147-A177-3AD203B41FA5}">
                      <a16:colId xmlns:a16="http://schemas.microsoft.com/office/drawing/2014/main" val="2494357302"/>
                    </a:ext>
                  </a:extLst>
                </a:gridCol>
                <a:gridCol w="3666930">
                  <a:extLst>
                    <a:ext uri="{9D8B030D-6E8A-4147-A177-3AD203B41FA5}">
                      <a16:colId xmlns:a16="http://schemas.microsoft.com/office/drawing/2014/main" val="272423661"/>
                    </a:ext>
                  </a:extLst>
                </a:gridCol>
                <a:gridCol w="3229270">
                  <a:extLst>
                    <a:ext uri="{9D8B030D-6E8A-4147-A177-3AD203B41FA5}">
                      <a16:colId xmlns:a16="http://schemas.microsoft.com/office/drawing/2014/main" val="2712651757"/>
                    </a:ext>
                  </a:extLst>
                </a:gridCol>
              </a:tblGrid>
              <a:tr h="46544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Field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 Type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Constraints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49916845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PRIMARY KEY, AUTO_INCREMENT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Unique complaint identifier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248986"/>
                  </a:ext>
                </a:extLst>
              </a:tr>
              <a:tr h="26456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+mn-cs"/>
                        </a:rPr>
                        <a:t>References Users(user_id) - Complainant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1056419"/>
                  </a:ext>
                </a:extLst>
              </a:tr>
              <a:tr h="727381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Complaint_type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 type: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 = </a:t>
                      </a:r>
                      <a:r>
                        <a:rPr lang="en-IN" sz="1800" b="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Product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240333"/>
                  </a:ext>
                </a:extLst>
              </a:tr>
              <a:tr h="706236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FOREIGN KEY, 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Reference from Product ID or </a:t>
                      </a:r>
                      <a:b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Equipment ID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46101449"/>
                  </a:ext>
                </a:extLst>
              </a:tr>
              <a:tr h="456728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TEXT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8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NOT NULL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 details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0696154"/>
                  </a:ext>
                </a:extLst>
              </a:tr>
              <a:tr h="438979"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CHAR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DEFAULT ‘Open’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Complaint status: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 = Open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 = InProgress</a:t>
                      </a:r>
                    </a:p>
                    <a:p>
                      <a:pPr>
                        <a:spcBef>
                          <a:spcPts val="180"/>
                        </a:spcBef>
                        <a:spcAft>
                          <a:spcPts val="0"/>
                        </a:spcAft>
                      </a:pPr>
                      <a:r>
                        <a:rPr lang="en-IN" sz="18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 = Resolved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78977698"/>
                  </a:ext>
                </a:extLst>
              </a:tr>
            </a:tbl>
          </a:graphicData>
        </a:graphic>
      </p:graphicFrame>
      <p:sp>
        <p:nvSpPr>
          <p:cNvPr id="6" name="Title 5">
            <a:extLst>
              <a:ext uri="{FF2B5EF4-FFF2-40B4-BE49-F238E27FC236}">
                <a16:creationId xmlns:a16="http://schemas.microsoft.com/office/drawing/2014/main" id="{38B974A1-CE28-47DC-9B4E-A64C644E4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53190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5849-3F15-47BA-A363-A24EE4A56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6456" y="-307975"/>
            <a:ext cx="3200400" cy="213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B81B6F-B980-4F73-9469-45E5C90649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1800" y="0"/>
            <a:ext cx="1600200" cy="1600200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110C9B-A4F4-4BA2-A0D1-C494C1248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AgriRent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connects farmers and equipment owners, </a:t>
            </a:r>
          </a:p>
          <a:p>
            <a:pPr marL="0" indent="0" algn="ctr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supports sales of farm supplies, and provides a secure, </a:t>
            </a:r>
          </a:p>
          <a:p>
            <a:pPr marL="0" indent="0" algn="ctr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scalable platform that can be easily expanded in the future.</a:t>
            </a: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		</a:t>
            </a:r>
            <a:r>
              <a:rPr lang="en-US" sz="6600" b="1" dirty="0">
                <a:latin typeface="Cambria" panose="02040503050406030204" pitchFamily="18" charset="0"/>
                <a:ea typeface="Cambria" panose="02040503050406030204" pitchFamily="18" charset="0"/>
              </a:rPr>
              <a:t>Thank you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5270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11123</TotalTime>
  <Words>2949</Words>
  <Application>Microsoft Office PowerPoint</Application>
  <PresentationFormat>Widescreen</PresentationFormat>
  <Paragraphs>926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 AgriRent - Agricultural Equipment Rental &amp; Farm Supplies Selling System</vt:lpstr>
      <vt:lpstr>Table of Content</vt:lpstr>
      <vt:lpstr>Project Definition</vt:lpstr>
      <vt:lpstr>PowerPoint Presentation</vt:lpstr>
      <vt:lpstr>PowerPoint Presentation</vt:lpstr>
      <vt:lpstr>Functional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Non-Functional Requirements</vt:lpstr>
      <vt:lpstr>PowerPoint Presentation</vt:lpstr>
      <vt:lpstr>PowerPoint Presentation</vt:lpstr>
      <vt:lpstr>PowerPoint Presentation</vt:lpstr>
      <vt:lpstr>Use Case Diagram</vt:lpstr>
      <vt:lpstr>Activity Diagram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Data Dictionary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KKP</dc:creator>
  <cp:lastModifiedBy>admin</cp:lastModifiedBy>
  <cp:revision>455</cp:revision>
  <dcterms:created xsi:type="dcterms:W3CDTF">2025-08-13T08:10:01Z</dcterms:created>
  <dcterms:modified xsi:type="dcterms:W3CDTF">2025-11-02T03:05:05Z</dcterms:modified>
</cp:coreProperties>
</file>